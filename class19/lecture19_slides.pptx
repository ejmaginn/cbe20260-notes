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19: Improving Rankine Cycle Efficiency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Edward Maginn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Analyzing the High-Pressure Turbine (HPT)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Stream 5 (Boiler Out / HPT In):</a:t>
                </a:r>
                <a:r>
                  <a:rPr/>
                  <a:t> 60 bar, 500°C.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3422.2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6.8826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nor/>
                        <m:sty m:val="p"/>
                      </m:rPr>
                      <m:t>K</m:t>
                    </m:r>
                  </m:oMath>
                </a14:m>
              </a:p>
              <a:p>
                <a:pPr lvl="0"/>
                <a:r>
                  <a:rPr b="1"/>
                  <a:t>Stream 6 (HPT Out):</a:t>
                </a:r>
                <a:r>
                  <a:rPr/>
                  <a:t> 10 bar.</a:t>
                </a:r>
              </a:p>
              <a:p>
                <a:pPr lvl="1"/>
                <a:r>
                  <a:rPr/>
                  <a:t>Ideal expansion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′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  <a:r>
                  <a:rPr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⟹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′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2921.4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:r>
                  <a:rPr/>
                  <a:t>Actual HPT Work (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0.75</m:t>
                    </m:r>
                  </m:oMath>
                </a14:m>
                <a:r>
                  <a:rPr/>
                  <a:t>):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H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0.75</m:t>
                      </m:r>
                      <m:r>
                        <m:rPr>
                          <m:sty m:val="p"/>
                        </m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2921.4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3422.2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375.6</m:t>
                      </m:r>
                      <m:r>
                        <m:rPr>
                          <m:nor/>
                          <m:sty m:val="p"/>
                        </m:rPr>
                        <m:t> kJ/kg</m:t>
                      </m:r>
                    </m:oMath>
                  </m:oMathPara>
                </a14:m>
              </a:p>
              <a:p>
                <a:pPr lvl="1"/>
                <a:r>
                  <a:rPr/>
                  <a:t>Actual Enthalpy: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3422.2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375.6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3046.6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  <a:r>
                  <a:rPr/>
                  <a:t> </a:t>
                </a:r>
                <a:r>
                  <a:rPr i="1"/>
                  <a:t>(At 10 bar, this is approx 300°C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7.124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nor/>
                        <m:sty m:val="p"/>
                      </m:rPr>
                      <m:t>K</m:t>
                    </m:r>
                  </m:oMath>
                </a14:m>
                <a:r>
                  <a:rPr i="1"/>
                  <a:t>)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Splitting the Flow (The Extraction Tee)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The Split:</a:t>
                </a:r>
                <a:r>
                  <a:rPr/>
                  <a:t> Stream 6 leaves the HP Turbine and immediately splits.</a:t>
                </a:r>
              </a:p>
              <a:p>
                <a:pPr lvl="0"/>
                <a:r>
                  <a:rPr b="1"/>
                  <a:t>Stream 7 (To Feedwater Heater):</a:t>
                </a:r>
              </a:p>
              <a:p>
                <a:pPr lvl="1"/>
                <a:r>
                  <a:rPr/>
                  <a:t>Mass fraction =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a:p>
              <a:p>
                <a:pPr lvl="1"/>
                <a:r>
                  <a:rPr/>
                  <a:t>Properties remain identical to Stream 6: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3046.6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  <a:r>
                  <a:rPr/>
                  <a:t>, 10 bar.</a:t>
                </a:r>
              </a:p>
              <a:p>
                <a:pPr lvl="0"/>
                <a:r>
                  <a:rPr b="1"/>
                  <a:t>Stream 8 (To Low-Pressure Turbine):</a:t>
                </a:r>
              </a:p>
              <a:p>
                <a:pPr lvl="1"/>
                <a:r>
                  <a:rPr/>
                  <a:t>Mass fraction =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y</m:t>
                    </m:r>
                  </m:oMath>
                </a14:m>
              </a:p>
              <a:p>
                <a:pPr lvl="1"/>
                <a:r>
                  <a:rPr/>
                  <a:t>Properties remain identical to Stream 6: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3046.6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  <a:r>
                  <a:rPr/>
                  <a:t>, 10 bar.</a:t>
                </a:r>
              </a:p>
              <a:p>
                <a:pPr lvl="0"/>
                <a:r>
                  <a:rPr b="1"/>
                  <a:t>Key Takeaway:</a:t>
                </a:r>
                <a:r>
                  <a:rPr/>
                  <a:t> Splitting a stream changes the mass flow rate, but it </a:t>
                </a:r>
                <a:r>
                  <a:rPr b="1"/>
                  <a:t>does not</a:t>
                </a:r>
                <a:r>
                  <a:rPr/>
                  <a:t> change the intensive thermodynamic properties (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H</m:t>
                        </m:r>
                      </m:e>
                    </m:acc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S</m:t>
                        </m:r>
                      </m:e>
                    </m:acc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Analyzing the Low-Pressure Turbine (LPT)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Stream 8 (LPT In):</a:t>
                </a:r>
                <a:r>
                  <a:rPr/>
                  <a:t> 10 bar,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3046.6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7.124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nor/>
                        <m:sty m:val="p"/>
                      </m:rPr>
                      <m:t>K</m:t>
                    </m:r>
                  </m:oMath>
                </a14:m>
              </a:p>
              <a:p>
                <a:pPr lvl="0"/>
                <a:r>
                  <a:rPr b="1"/>
                  <a:t>Stream 9 (LPT Out / Condenser In):</a:t>
                </a:r>
                <a:r>
                  <a:rPr/>
                  <a:t> 1 bar.</a:t>
                </a:r>
              </a:p>
              <a:p>
                <a:pPr lvl="1"/>
                <a:r>
                  <a:rPr/>
                  <a:t>Ideal expansion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m:t>′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8</m:t>
                        </m:r>
                      </m:sub>
                    </m:sSub>
                  </m:oMath>
                </a14:m>
                <a:r>
                  <a:rPr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⟹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m:t>′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2587.4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  <a:r>
                  <a:rPr/>
                  <a:t> </a:t>
                </a:r>
                <a:r>
                  <a:rPr i="1"/>
                  <a:t>(Two-phase mixture)</a:t>
                </a:r>
              </a:p>
              <a:p>
                <a:pPr lvl="1"/>
                <a:r>
                  <a:rPr/>
                  <a:t>Actual LPT Work per kg of steam passing through it (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0.75</m:t>
                    </m:r>
                  </m:oMath>
                </a14:m>
                <a:r>
                  <a:rPr/>
                  <a:t>):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L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0.75</m:t>
                      </m:r>
                      <m:r>
                        <m:rPr>
                          <m:sty m:val="p"/>
                        </m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2587.4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3046.6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344.4</m:t>
                      </m:r>
                      <m:r>
                        <m:rPr>
                          <m:nor/>
                          <m:sty m:val="p"/>
                        </m:rPr>
                        <m:t> kJ/kg</m:t>
                      </m:r>
                    </m:oMath>
                  </m:oMathPara>
                </a14:m>
              </a:p>
              <a:p>
                <a:pPr lvl="1"/>
                <a:r>
                  <a:rPr/>
                  <a:t>Actual Enthalpy: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3046.6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344.4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2702.2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0"/>
                <a:r>
                  <a:rPr b="1"/>
                  <a:t>Important:</a:t>
                </a:r>
                <a:r>
                  <a:rPr/>
                  <a:t> The </a:t>
                </a:r>
                <a:r>
                  <a:rPr i="1"/>
                  <a:t>total</a:t>
                </a:r>
                <a:r>
                  <a:rPr/>
                  <a:t> work from the LPT depends on the mass fraction: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y</m:t>
                        </m:r>
                      </m:e>
                    </m:d>
                    <m:sSub>
                      <m:e>
                        <m:r>
                          <m:t>W</m:t>
                        </m:r>
                      </m:e>
                      <m:sub>
                        <m:r>
                          <m:t>L</m:t>
                        </m:r>
                        <m:r>
                          <m:t>P</m:t>
                        </m:r>
                      </m:sub>
                    </m:sSub>
                  </m:oMath>
                </a14:m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Condensation and the First Pump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Stream 10 (Condenser Out):</a:t>
                </a:r>
                <a:r>
                  <a:rPr/>
                  <a:t> 1 bar, Saturated Liquid.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417.4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V</m:t>
                            </m:r>
                          </m:e>
                        </m:acc>
                      </m:e>
                      <m:sub>
                        <m: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0.001043</m:t>
                    </m:r>
                    <m:sSup>
                      <m:e>
                        <m:r>
                          <m:rPr>
                            <m:nor/>
                            <m:sty m:val="p"/>
                          </m:rPr>
                          <m:t> 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nor/>
                        <m:sty m:val="p"/>
                      </m:rPr>
                      <m:t>/kg</m:t>
                    </m:r>
                  </m:oMath>
                </a14:m>
              </a:p>
              <a:p>
                <a:pPr lvl="0"/>
                <a:r>
                  <a:rPr b="1"/>
                  <a:t>Pump 1 (Condensate Pump):</a:t>
                </a:r>
                <a:r>
                  <a:rPr/>
                  <a:t> Pressurizes from 1 bar to 10 bar.</a:t>
                </a:r>
              </a:p>
              <a:p>
                <a:pPr lvl="1"/>
                <a:r>
                  <a:rPr/>
                  <a:t>Ideal Pump Work: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P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e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̂"/>
                      </m:accPr>
                      <m:e>
                        <m:r>
                          <m:t>V</m:t>
                        </m:r>
                      </m:e>
                    </m:acc>
                    <m:r>
                      <m:t>Δ</m:t>
                    </m:r>
                    <m:r>
                      <m:t>P</m:t>
                    </m:r>
                    <m:r>
                      <m:rPr>
                        <m:sty m:val="p"/>
                      </m:rPr>
                      <m:t>≈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0.94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:r>
                  <a:rPr/>
                  <a:t>Actual Pump Work (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0.75</m:t>
                    </m:r>
                  </m:oMath>
                </a14:m>
                <a:r>
                  <a:rPr/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P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0.94</m:t>
                    </m:r>
                    <m:r>
                      <m:rPr>
                        <m:sty m:val="p"/>
                      </m:rPr>
                      <m:t>/</m:t>
                    </m:r>
                    <m:r>
                      <m:t>0.75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1.25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0"/>
                <a:r>
                  <a:rPr b="1"/>
                  <a:t>Stream 11 (Pump 1 Out / OFWH In):</a:t>
                </a:r>
                <a:r>
                  <a:rPr/>
                  <a:t> 10 bar, Subcooled Liquid.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417.4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1.25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418.65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:r>
                  <a:rPr/>
                  <a:t>Mass fraction =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y</m:t>
                    </m:r>
                  </m:oMath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Mixing in the Open Feedwater Heater (OFWH)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The Goal:</a:t>
                </a:r>
                <a:r>
                  <a:rPr/>
                  <a:t> Mix hot extracted steam (Stream 7) with cold condensate (Stream 11) to produce a saturated liquid at 10 bar.</a:t>
                </a:r>
              </a:p>
              <a:p>
                <a:pPr lvl="0"/>
                <a:r>
                  <a:rPr b="1"/>
                  <a:t>Stream 12 (OFWH Out):</a:t>
                </a:r>
                <a:r>
                  <a:rPr/>
                  <a:t> 10 bar, Saturated Liquid.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762.6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:r>
                  <a:rPr/>
                  <a:t>Mass fraction = </a:t>
                </a:r>
                <a14:m>
                  <m:oMath xmlns:m="http://schemas.openxmlformats.org/officeDocument/2006/math">
                    <m:r>
                      <m:t>1.0</m:t>
                    </m:r>
                  </m:oMath>
                </a14:m>
                <a:r>
                  <a:rPr/>
                  <a:t> </a:t>
                </a:r>
                <a:r>
                  <a:rPr i="1"/>
                  <a:t>(The streams have recombined!)</a:t>
                </a:r>
              </a:p>
              <a:p>
                <a:pPr lvl="0"/>
                <a:r>
                  <a:rPr b="1"/>
                  <a:t>Why do this?</a:t>
                </a:r>
                <a:r>
                  <a:rPr/>
                  <a:t> Stream 12 is much hotter (</a:t>
                </a:r>
                <a14:m>
                  <m:oMath xmlns:m="http://schemas.openxmlformats.org/officeDocument/2006/math">
                    <m:r>
                      <m:t>762.6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  <a:r>
                  <a:rPr/>
                  <a:t>) than the unheated condensate (</a:t>
                </a:r>
                <a14:m>
                  <m:oMath xmlns:m="http://schemas.openxmlformats.org/officeDocument/2006/math">
                    <m:r>
                      <m:t>418.65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  <a:r>
                  <a:rPr/>
                  <a:t>). We are saving the boiler from having to do this heating!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Balance on the OFWH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must find the exact fraction of steam (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) to extract so the mixture perfectly reaches the saturated liquid state.</a:t>
                </a:r>
              </a:p>
              <a:p>
                <a:pPr lvl="0"/>
                <a:r>
                  <a:rPr b="1"/>
                  <a:t>Steady-State Energy Balance (Adiabatic OFWH):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t>7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</m:e>
                      </m:d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t>11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1.0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t>12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 b="1"/>
                  <a:t>Solve for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 b="1"/>
                  <a:t>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m:t>12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m:t>11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m:t>7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762.6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418.65</m:t>
                          </m:r>
                        </m:num>
                        <m:den>
                          <m:r>
                            <m:t>3046.6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418.65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343.95</m:t>
                          </m:r>
                        </m:num>
                        <m:den>
                          <m:r>
                            <m:t>2627.95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0.131</m:t>
                      </m:r>
                    </m:oMath>
                  </m:oMathPara>
                </a14:m>
              </a:p>
              <a:p>
                <a:pPr lvl="0"/>
                <a:r>
                  <a:rPr i="1"/>
                  <a:t>(We extract 13.1% of the steam)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Compression and Heat Addition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Pump 2 (Boiler Feed Pump):</a:t>
                </a:r>
                <a:r>
                  <a:rPr/>
                  <a:t> Pressurizes Stream 12 from 10 bar to 60 bar.</a:t>
                </a:r>
              </a:p>
              <a:p>
                <a:pPr lvl="1"/>
                <a:r>
                  <a:rPr/>
                  <a:t>Ideal Work: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P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e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V</m:t>
                            </m:r>
                          </m:e>
                        </m:acc>
                      </m:e>
                      <m:sub>
                        <m:r>
                          <m:t>12</m:t>
                        </m:r>
                      </m:sub>
                    </m:sSub>
                    <m:r>
                      <m:t>Δ</m:t>
                    </m:r>
                    <m:r>
                      <m:t>P</m:t>
                    </m:r>
                    <m:r>
                      <m:rPr>
                        <m:sty m:val="p"/>
                      </m:rPr>
                      <m:t>≈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5.63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1"/>
                <a:r>
                  <a:rPr/>
                  <a:t>Actual Work (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0.75</m:t>
                    </m:r>
                  </m:oMath>
                </a14:m>
                <a:r>
                  <a:rPr/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P</m:t>
                        </m:r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5.63</m:t>
                    </m:r>
                    <m:r>
                      <m:rPr>
                        <m:sty m:val="p"/>
                      </m:rPr>
                      <m:t>/</m:t>
                    </m:r>
                    <m:r>
                      <m:t>0.75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+</m:t>
                    </m:r>
                    <m:r>
                      <m:t>7.51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0"/>
                <a:r>
                  <a:rPr b="1"/>
                  <a:t>Stream 13 (Boiler In):</a:t>
                </a:r>
                <a:r>
                  <a:rPr/>
                  <a:t> 60 bar, Subcooled Liquid.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H</m:t>
                            </m:r>
                          </m:e>
                        </m:acc>
                      </m:e>
                      <m:sub>
                        <m: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762.6</m:t>
                    </m:r>
                    <m:r>
                      <m:rPr>
                        <m:sty m:val="p"/>
                      </m:rPr>
                      <m:t>+</m:t>
                    </m:r>
                    <m:r>
                      <m:t>7.51</m:t>
                    </m:r>
                    <m:r>
                      <m:rPr>
                        <m:sty m:val="p"/>
                      </m:rPr>
                      <m:t>=</m:t>
                    </m:r>
                    <m:r>
                      <m:t>770.11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0"/>
                <a:r>
                  <a:rPr b="1"/>
                  <a:t>Boiler Heat Input (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H</m:t>
                        </m:r>
                      </m:sub>
                    </m:sSub>
                  </m:oMath>
                </a14:m>
                <a:r>
                  <a:rPr b="1"/>
                  <a:t>):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t>5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t>13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3422.2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770.11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2652.1</m:t>
                      </m:r>
                      <m:r>
                        <m:rPr>
                          <m:nor/>
                          <m:sty m:val="p"/>
                        </m:rPr>
                        <m:t> kJ/kg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Calculating Total Efficiency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Total Work Out (Turbines):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t</m:t>
                          </m:r>
                          <m:r>
                            <m:t>u</m:t>
                          </m:r>
                          <m:r>
                            <m:t>r</m:t>
                          </m:r>
                          <m: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H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</m:e>
                      </m:d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L</m:t>
                          </m:r>
                          <m:r>
                            <m:t>P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t</m:t>
                          </m:r>
                          <m:r>
                            <m:t>u</m:t>
                          </m:r>
                          <m:r>
                            <m:t>r</m:t>
                          </m:r>
                          <m: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375.6</m:t>
                      </m:r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0.131</m:t>
                          </m:r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344.4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674.8</m:t>
                      </m:r>
                      <m:r>
                        <m:rPr>
                          <m:nor/>
                          <m:sty m:val="p"/>
                        </m:rPr>
                        <m:t> kJ/kg</m:t>
                      </m:r>
                    </m:oMath>
                  </m:oMathPara>
                </a14:m>
              </a:p>
              <a:p>
                <a:pPr lvl="0"/>
                <a:r>
                  <a:rPr b="1"/>
                  <a:t>Total Work In (Pumps):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p</m:t>
                          </m:r>
                          <m:r>
                            <m:t>u</m:t>
                          </m:r>
                          <m:r>
                            <m:t>m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</m:e>
                      </m:d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P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P</m:t>
                          </m:r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p</m:t>
                          </m:r>
                          <m:r>
                            <m:t>u</m:t>
                          </m:r>
                          <m:r>
                            <m:t>m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0.869</m:t>
                          </m:r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1.25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7.51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8.6</m:t>
                      </m:r>
                      <m:r>
                        <m:rPr>
                          <m:nor/>
                          <m:sty m:val="p"/>
                        </m:rPr>
                        <m:t> kJ/kg</m:t>
                      </m:r>
                    </m:oMath>
                  </m:oMathPara>
                </a14:m>
              </a:p>
              <a:p>
                <a:pPr lvl="0"/>
                <a:r>
                  <a:rPr b="1"/>
                  <a:t>Net Work: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n</m:t>
                        </m:r>
                        <m:r>
                          <m:t>e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674.8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8.6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666.2</m:t>
                    </m:r>
                    <m:r>
                      <m:rPr>
                        <m:nor/>
                        <m:sty m:val="p"/>
                      </m:rPr>
                      <m:t> kJ/kg</m:t>
                    </m:r>
                  </m:oMath>
                </a14:m>
              </a:p>
              <a:p>
                <a:pPr lvl="0"/>
                <a:r>
                  <a:rPr b="1"/>
                  <a:t>Thermal Efficiency: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η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n</m:t>
                              </m:r>
                              <m:r>
                                <m:t>e</m:t>
                              </m:r>
                              <m: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666.2</m:t>
                          </m:r>
                        </m:num>
                        <m:den>
                          <m:r>
                            <m:t>2652.1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0.251</m:t>
                      </m:r>
                      <m:r>
                        <m:rPr>
                          <m:nor/>
                          <m:sty m:val="p"/>
                        </m:rPr>
                        <m:t> (25.1%)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19: Improving Rankine Cycle Efficiency</dc:title>
  <dc:creator>Edward Maginn</dc:creator>
  <cp:keywords/>
  <dcterms:created xsi:type="dcterms:W3CDTF">2026-09-22T18:46:48Z</dcterms:created>
  <dcterms:modified xsi:type="dcterms:W3CDTF">2026-09-22T18:46:48Z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rossref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resources">
    <vt:lpwstr/>
  </property>
  <property fmtid="{D5CDD505-2E9C-101B-9397-08002B2CF9AE}" pid="12" name="toc-title">
    <vt:lpwstr>Table of contents</vt:lpwstr>
  </property>
</Properties>
</file>
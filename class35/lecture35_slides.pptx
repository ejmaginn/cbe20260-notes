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2" Type="http://schemas.openxmlformats.org/officeDocument/2006/relationships/viewProps" Target="viewProps.xml" /><Relationship Id="rId5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4" Type="http://schemas.openxmlformats.org/officeDocument/2006/relationships/tableStyles" Target="tableStyles.xml" /><Relationship Id="rId5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35: The Big Picture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Journey Through Thermodynamics — CBE 20260</a:t>
            </a:r>
            <a:br/>
            <a:br/>
            <a:r>
              <a:rPr/>
              <a:t>Edward Maginn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Started, 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34 lectures ago:</a:t>
            </a:r>
            <a:r>
              <a:rPr/>
              <a:t> You knew hot objects cool down and engines need fuel.</a:t>
            </a:r>
          </a:p>
          <a:p>
            <a:pPr lvl="0"/>
            <a:r>
              <a:rPr b="1"/>
              <a:t>Today:</a:t>
            </a:r>
            <a:r>
              <a:rPr/>
              <a:t> You know </a:t>
            </a:r>
            <a:r>
              <a:rPr i="1"/>
              <a:t>why</a:t>
            </a:r>
            <a:r>
              <a:rPr/>
              <a:t> — and how to </a:t>
            </a:r>
            <a:r>
              <a:rPr i="1"/>
              <a:t>calculate</a:t>
            </a:r>
            <a:r>
              <a:rPr/>
              <a:t> outcomes for real engineering systems.</a:t>
            </a:r>
          </a:p>
          <a:p>
            <a:pPr lvl="0"/>
            <a:r>
              <a:rPr/>
              <a:t>This lecture is a </a:t>
            </a:r>
            <a:r>
              <a:rPr b="1"/>
              <a:t>map</a:t>
            </a:r>
            <a:r>
              <a:rPr/>
              <a:t>, not a formula sheet.</a:t>
            </a:r>
          </a:p>
          <a:p>
            <a:pPr lvl="0"/>
            <a:r>
              <a:rPr/>
              <a:t>We trace the logical thread: foundational postulates → rigorous mathematics → complete computational framework.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Central Claim of This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result in CBE 20260 follows from just </a:t>
            </a:r>
            <a:r>
              <a:rPr b="1"/>
              <a:t>three things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 b="1"/>
              <a:t>The First Law:</a:t>
            </a:r>
            <a:r>
              <a:rPr/>
              <a:t> Energy is conserved.</a:t>
            </a:r>
          </a:p>
          <a:p>
            <a:pPr lvl="0" indent="-342900" marL="342900">
              <a:buAutoNum type="arabicPeriod"/>
            </a:pPr>
            <a:r>
              <a:rPr b="1"/>
              <a:t>The Second Law:</a:t>
            </a:r>
            <a:r>
              <a:rPr/>
              <a:t> Entropy of an isolated system increases until equilibrium.</a:t>
            </a:r>
          </a:p>
          <a:p>
            <a:pPr lvl="0" indent="-342900" marL="342900">
              <a:buAutoNum type="arabicPeriod"/>
            </a:pPr>
            <a:r>
              <a:rPr b="1"/>
              <a:t>The Fundamental Postulate:</a:t>
            </a:r>
            <a:r>
              <a:rPr/>
              <a:t> Equilibrium states of pure systems are determined by two independent intensive variables.</a:t>
            </a:r>
          </a:p>
          <a:p>
            <a:pPr lvl="0" indent="0" marL="0">
              <a:buNone/>
            </a:pPr>
            <a:r>
              <a:rPr/>
              <a:t>All the machinery we built — Legendre transforms, Maxwell relations, residual properties, fugacity — is the </a:t>
            </a:r>
            <a:r>
              <a:rPr b="1"/>
              <a:t>mathematical consequence</a:t>
            </a:r>
            <a:r>
              <a:rPr/>
              <a:t> of these three statements.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I: The Two Great Laws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Fundamental Postulate and State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Fundamental Postulate:</a:t>
                </a:r>
                <a:r>
                  <a:rPr/>
                  <a:t> For a pure substance at equilibrium, </a:t>
                </a:r>
                <a:r>
                  <a:rPr b="1"/>
                  <a:t>two independent intensive properties</a:t>
                </a:r>
                <a:r>
                  <a:rPr/>
                  <a:t> completely determine all others.</a:t>
                </a:r>
              </a:p>
              <a:p>
                <a:pPr lvl="0"/>
                <a:r>
                  <a:rPr/>
                  <a:t>This is why we can draw phase diagrams, use steam tables, and write equations of state.</a:t>
                </a:r>
              </a:p>
              <a:p>
                <a:pPr lvl="0"/>
                <a:r>
                  <a:rPr/>
                  <a:t>It implies that thermodynamic properties (</a:t>
                </a:r>
                <a14:m>
                  <m:oMath xmlns:m="http://schemas.openxmlformats.org/officeDocument/2006/math">
                    <m:r>
                      <m:t>U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G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) are </a:t>
                </a:r>
                <a:r>
                  <a:rPr b="1"/>
                  <a:t>state functions</a:t>
                </a:r>
                <a:r>
                  <a:rPr/>
                  <a:t>.</a:t>
                </a:r>
              </a:p>
              <a:p>
                <a:pPr lvl="0"/>
                <a:r>
                  <a:rPr/>
                  <a:t>State function changes depend only on </a:t>
                </a:r>
                <a:r>
                  <a:rPr b="1"/>
                  <a:t>initial and final states</a:t>
                </a:r>
                <a:r>
                  <a:rPr/>
                  <a:t>, not the path.</a:t>
                </a:r>
              </a:p>
              <a:p>
                <a:pPr lvl="0"/>
                <a:r>
                  <a:rPr/>
                  <a:t>That fact is what makes thermodynamics tractable.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First Law: Energy Bookkeeping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General open system: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</m:num>
                        <m:den>
                          <m:r>
                            <m:t>d</m:t>
                          </m:r>
                          <m:r>
                            <m:t>t</m:t>
                          </m:r>
                        </m:den>
                      </m:f>
                      <m:r>
                        <m:t>​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M</m:t>
                          </m:r>
                          <m:r>
                            <m:t>​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U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sSup>
                                    <m:e>
                                      <m:r>
                                        <m:t>v</m:t>
                                      </m:r>
                                    </m:e>
                                    <m:sup>
                                      <m: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g</m:t>
                              </m:r>
                              <m:r>
                                <m:t>h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  <m:r>
                            <m:t>n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acc>
                                <m:accPr>
                                  <m:chr m:val="̇"/>
                                </m:accPr>
                                <m:e>
                                  <m:r>
                                    <m:t>m</m:t>
                                  </m:r>
                                </m:e>
                              </m:acc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nary>
                      <m: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H</m:t>
                                  </m:r>
                                </m:e>
                              </m:acc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f>
                            <m:fPr>
                              <m:type m:val="bar"/>
                            </m:fPr>
                            <m:num>
                              <m:sSubSup>
                                <m:e>
                                  <m:r>
                                    <m:t>v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g</m:t>
                          </m:r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o</m:t>
                          </m:r>
                          <m:r>
                            <m:t>u</m:t>
                          </m:r>
                          <m:r>
                            <m:t>t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acc>
                                <m:accPr>
                                  <m:chr m:val="̇"/>
                                </m:accPr>
                                <m:e>
                                  <m:r>
                                    <m:t>m</m:t>
                                  </m:r>
                                </m:e>
                              </m:acc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</m:e>
                      </m:nary>
                      <m: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H</m:t>
                                  </m:r>
                                </m:e>
                              </m:acc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f>
                            <m:fPr>
                              <m:type m:val="bar"/>
                            </m:fPr>
                            <m:num>
                              <m:sSubSup>
                                <m:e>
                                  <m:r>
                                    <m:t>v</m:t>
                                  </m:r>
                                </m:e>
                                <m:sub>
                                  <m:r>
                                    <m:t>k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g</m:t>
                          </m:r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acc>
                            <m:accPr>
                              <m:chr m:val="̇"/>
                            </m:accPr>
                            <m:e>
                              <m:r>
                                <m:t>W</m:t>
                              </m:r>
                            </m:e>
                          </m:acc>
                        </m:e>
                        <m:sub>
                          <m: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acc>
                        <m:accPr>
                          <m:chr m:val="̇"/>
                        </m:accPr>
                        <m:e>
                          <m:r>
                            <m:t>Q</m:t>
                          </m:r>
                        </m:e>
                      </m:acc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Steady-state flow (most practical):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Δ</m:t>
                      </m:r>
                      <m:acc>
                        <m:accPr>
                          <m:chr m:val="̂"/>
                        </m:accPr>
                        <m:e>
                          <m:r>
                            <m:t>H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Q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s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one equation (with appropriate assumptions) governs nozzles, turbines, compressors, pumps, and heat exchangers.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Second Law: Directionality and Limits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Entropy balance for an open system: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M</m:t>
                              </m:r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S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m:t>d</m:t>
                          </m:r>
                          <m: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  <m:r>
                            <m:t>n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acc>
                            <m:accPr>
                              <m:chr m:val="̇"/>
                            </m:accPr>
                            <m:e>
                              <m:r>
                                <m:t>m</m:t>
                              </m:r>
                            </m:e>
                          </m:acc>
                        </m:e>
                      </m:nary>
                      <m:acc>
                        <m:accPr>
                          <m:chr m:val="̂"/>
                        </m:accPr>
                        <m:e>
                          <m:r>
                            <m:t>S</m:t>
                          </m:r>
                        </m:e>
                      </m:acc>
                      <m:r>
                        <m:rPr>
                          <m:sty m:val="p"/>
                        </m:rPr>
                        <m:t>−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o</m:t>
                          </m:r>
                          <m:r>
                            <m:t>u</m:t>
                          </m:r>
                          <m:r>
                            <m:t>t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acc>
                            <m:accPr>
                              <m:chr m:val="̇"/>
                            </m:accPr>
                            <m:e>
                              <m:r>
                                <m:t>m</m:t>
                              </m:r>
                            </m:e>
                          </m:acc>
                        </m:e>
                      </m:nary>
                      <m:acc>
                        <m:accPr>
                          <m:chr m:val="̂"/>
                        </m:accPr>
                        <m:e>
                          <m:r>
                            <m:t>S</m:t>
                          </m:r>
                        </m:e>
                      </m:acc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acc>
                            <m:accPr>
                              <m:chr m:val="̇"/>
                            </m:accPr>
                            <m:e>
                              <m:r>
                                <m:t>Q</m:t>
                              </m:r>
                            </m:e>
                          </m:acc>
                        </m:num>
                        <m:den>
                          <m: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acc>
                            <m:accPr>
                              <m:chr m:val="̇"/>
                            </m:accPr>
                            <m:e>
                              <m:r>
                                <m:t>S</m:t>
                              </m:r>
                            </m:e>
                          </m:acc>
                        </m:e>
                        <m:sub>
                          <m:r>
                            <m:t>g</m:t>
                          </m:r>
                          <m:r>
                            <m:t>e</m:t>
                          </m:r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b>
                        <m:e>
                          <m:acc>
                            <m:accPr>
                              <m:chr m:val="̇"/>
                            </m:accPr>
                            <m:e>
                              <m:r>
                                <m:t>S</m:t>
                              </m:r>
                            </m:e>
                          </m:acc>
                        </m:e>
                        <m:sub>
                          <m:r>
                            <m:t>g</m:t>
                          </m:r>
                          <m:r>
                            <m:t>e</m:t>
                          </m:r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≥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inequality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̇"/>
                          </m:accPr>
                          <m:e>
                            <m:r>
                              <m:t>S</m:t>
                            </m:r>
                          </m:e>
                        </m:acc>
                      </m:e>
                      <m:sub>
                        <m:r>
                          <m:t>g</m:t>
                        </m:r>
                        <m:r>
                          <m:t>e</m:t>
                        </m:r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≥</m:t>
                    </m:r>
                    <m:r>
                      <m:t>0</m:t>
                    </m:r>
                  </m:oMath>
                </a14:m>
                <a:r>
                  <a:rPr/>
                  <a:t> gives us:</a:t>
                </a:r>
              </a:p>
              <a:p>
                <a:pPr lvl="0"/>
                <a:r>
                  <a:rPr b="1"/>
                  <a:t>Reversible processes</a:t>
                </a:r>
                <a:r>
                  <a:rPr/>
                  <a:t> as idealized upper bounds (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̇"/>
                          </m:accPr>
                          <m:e>
                            <m:r>
                              <m:t>S</m:t>
                            </m:r>
                          </m:e>
                        </m:acc>
                      </m:e>
                      <m:sub>
                        <m:r>
                          <m:t>g</m:t>
                        </m:r>
                        <m:r>
                          <m:t>e</m:t>
                        </m:r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)</a:t>
                </a:r>
              </a:p>
              <a:p>
                <a:pPr lvl="0"/>
                <a:r>
                  <a:rPr b="1"/>
                  <a:t>Carnot efficiency: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η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H</m:t>
                        </m:r>
                      </m:sub>
                    </m:sSub>
                  </m:oMath>
                </a14:m>
              </a:p>
              <a:p>
                <a:pPr lvl="0"/>
                <a:r>
                  <a:rPr b="1"/>
                  <a:t>Carnot COP: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COP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T</m:t>
                            </m:r>
                          </m:e>
                          <m:sub>
                            <m:r>
                              <m:t>H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T</m:t>
                            </m:r>
                          </m:e>
                          <m:sub>
                            <m:r>
                              <m:t>C</m:t>
                            </m:r>
                          </m:sub>
                        </m:sSub>
                      </m:e>
                    </m:d>
                  </m:oMath>
                </a14:m>
              </a:p>
              <a:p>
                <a:pPr lvl="0"/>
                <a:r>
                  <a:rPr b="1"/>
                  <a:t>Isentropic efficiency</a:t>
                </a:r>
                <a:r>
                  <a:rPr/>
                  <a:t> to quantify real vs. ideal device performance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the Two Laws Together Tell You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Tells you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First Law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i="1"/>
                        <a:t>How much</a:t>
                      </a:r>
                      <a:r>
                        <a:rPr/>
                        <a:t> energy enters and leaves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Second Law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i="1"/>
                        <a:t>Which direction</a:t>
                      </a:r>
                      <a:r>
                        <a:rPr/>
                        <a:t> the process goes and </a:t>
                      </a:r>
                      <a:r>
                        <a:rPr i="1"/>
                        <a:t>how efficiently</a:t>
                      </a:r>
                      <a:r>
                        <a:rPr/>
                        <a:t> it can run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Together they define the </a:t>
            </a:r>
            <a:r>
              <a:rPr b="1"/>
              <a:t>feasibility and thermodynamic limits</a:t>
            </a:r>
            <a:r>
              <a:rPr/>
              <a:t> of every process.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II: Engineering Devices and Cycles</a:t>
            </a:r>
          </a:p>
        </p:txBody>
      </p:sp>
    </p:spTree>
  </p:cSld>
</p:sld>
</file>

<file path=ppt/slides/slide12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Steady-State Devices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057400" /><a:gridCol w="4114800" /><a:gridCol w="2057400" /></a:tblGrid><a:tr h="0"><a:tc><a:txBody><a:bodyPr /><a:lstStyle /><a:p><a:pPr lvl="0" indent="0" marL="0" algn="l"><a:buNone /></a:pPr><a:r><a:rPr /><a:t>Device</a:t></a:r></a:p></a:txBody><a:tcPr /></a:tc><a:tc><a:txBody><a:bodyPr /><a:lstStyle /><a:p><a:pPr lvl="0" indent="0" marL="0" algn="l"><a:buNone /></a:pPr><a:r><a:rPr /><a:t>Key assumption</a:t></a:r></a:p></a:txBody><a:tcPr /></a:tc><a:tc><a:txBody><a:bodyPr /><a:lstStyle /><a:p><a:pPr lvl="0" indent="0" marL="0" algn="l"><a:buNone /></a:pPr><a:r><a:rPr /><a:t>Result</a:t></a:r></a:p></a:txBody><a:tcPr /></a:tc></a:tr><a:tr h="0"><a:tc><a:txBody><a:bodyPr /><a:lstStyle /><a:p><a:pPr lvl="0" indent="0" marL="0" algn="l"><a:buNone /></a:pPr><a:r><a:rPr /><a:t>Nozzle / diffuser</a:t></a:r></a:p></a:txBody></a:tc><a:tc><a:txBody><a:bodyPr /><a:lstStyle /><a:p><a:pPr lvl="0" indent="0" marL="0" algn="l"><a:buNone /></a:pPr><a14:m><m:oMath xmlns:m="http://schemas.openxmlformats.org/officeDocument/2006/math"><m:r><m:t>Q</m:t></m:r><m:r><m:rPr><m:sty m:val="p" /></m:rPr><m:t>=</m:t></m:r><m:r><m:t>0</m:t></m:r></m:oMath></a14:m><a:r><a:rPr /><a:t>, </a:t></a:r><a14:m><m:oMath xmlns:m="http://schemas.openxmlformats.org/officeDocument/2006/math"><m:sSub><m:e><m:r><m:t>W</m:t></m:r></m:e><m:sub><m:r><m:t>s</m:t></m:r></m:sub></m:sSub><m:r><m:rPr><m:sty m:val="p" /></m:rPr><m:t>=</m:t></m:r><m:r><m:t>0</m:t></m:r></m:oMath></a14:m></a:p></a:txBody></a:tc><a:tc><a:txBody><a:bodyPr /><a:lstStyle /><a:p><a:pPr lvl="0" indent="0" marL="0" algn="l"><a:buNone /></a:pPr><a14:m><m:oMath xmlns:m="http://schemas.openxmlformats.org/officeDocument/2006/math"><m:r><m:t>Δ</m:t></m:r><m:r><m:t>H</m:t></m:r><m:r><m:rPr><m:sty m:val="p" /></m:rPr><m:t>=</m:t></m:r><m:r><m:rPr><m:sty m:val="p" /></m:rPr><m:t>−</m:t></m:r><m:r><m:t>Δ</m:t></m:r><m:d><m:dPr><m:begChr m:val="(" /><m:sepChr m:val="" /><m:endChr m:val=")" /><m:grow /></m:dPr><m:e><m:f><m:fPr><m:type m:val="lin" /></m:fPr><m:num><m:r><m:t>1</m:t></m:r></m:num><m:den><m:r><m:t>2</m:t></m:r></m:den></m:f><m:sSup><m:e><m:r><m:t>v</m:t></m:r></m:e><m:sup><m:r><m:t>2</m:t></m:r></m:sup></m:sSup></m:e></m:d></m:oMath></a14:m></a:p></a:txBody></a:tc></a:tr><a:tr h="0"><a:tc><a:txBody><a:bodyPr /><a:lstStyle /><a:p><a:pPr lvl="0" indent="0" marL="0" algn="l"><a:buNone /></a:pPr><a:r><a:rPr /><a:t>Turbine / compressor</a:t></a:r></a:p></a:txBody></a:tc><a:tc><a:txBody><a:bodyPr /><a:lstStyle /><a:p><a:pPr lvl="0" indent="0" marL="0" algn="l"><a:buNone /></a:pPr><a:r><a:rPr /><a:t>Adiabatic, steady</a:t></a:r></a:p></a:txBody></a:tc><a:tc><a:txBody><a:bodyPr /><a:lstStyle /><a:p><a:pPr lvl="0" indent="0" marL="0" algn="l"><a:buNone /></a:pPr><a14:m><m:oMath xmlns:m="http://schemas.openxmlformats.org/officeDocument/2006/math"><m:sSub><m:e><m:r><m:t>W</m:t></m:r></m:e><m:sub><m:r><m:t>s</m:t></m:r></m:sub></m:sSub><m:r><m:rPr><m:sty m:val="p" /></m:rPr><m:t>=</m:t></m:r><m:r><m:t>Δ</m:t></m:r><m:r><m:t>H</m:t></m:r></m:oMath></a14:m></a:p></a:txBody></a:tc></a:tr><a:tr h="0"><a:tc><a:txBody><a:bodyPr /><a:lstStyle /><a:p><a:pPr lvl="0" indent="0" marL="0" algn="l"><a:buNone /></a:pPr><a:r><a:rPr /><a:t>Heat exchanger</a:t></a:r></a:p></a:txBody></a:tc><a:tc><a:txBody><a:bodyPr /><a:lstStyle /><a:p><a:pPr lvl="0" indent="0" marL="0" algn="l"><a:buNone /></a:pPr><a14:m><m:oMath xmlns:m="http://schemas.openxmlformats.org/officeDocument/2006/math"><m:sSub><m:e><m:r><m:t>W</m:t></m:r></m:e><m:sub><m:r><m:t>s</m:t></m:r></m:sub></m:sSub><m:r><m:rPr><m:sty m:val="p" /></m:rPr><m:t>=</m:t></m:r><m:r><m:t>0</m:t></m:r></m:oMath></a14:m><a:r><a:rPr /><a:t>, steady</a:t></a:r></a:p></a:txBody></a:tc><a:tc><a:txBody><a:bodyPr /><a:lstStyle /><a:p><a:pPr lvl="0" indent="0" marL="0" algn="l"><a:buNone /></a:pPr><a14:m><m:oMath xmlns:m="http://schemas.openxmlformats.org/officeDocument/2006/math"><m:r><m:t>Q</m:t></m:r><m:r><m:rPr><m:sty m:val="p" /></m:rPr><m:t>=</m:t></m:r><m:r><m:t>Δ</m:t></m:r><m:r><m:t>H</m:t></m:r></m:oMath></a14:m></a:p></a:txBody></a:tc></a:tr><a:tr h="0"><a:tc><a:txBody><a:bodyPr /><a:lstStyle /><a:p><a:pPr lvl="0" indent="0" marL="0" algn="l"><a:buNone /></a:pPr><a:r><a:rPr /><a:t>Throttle</a:t></a:r></a:p></a:txBody></a:tc><a:tc><a:txBody><a:bodyPr /><a:lstStyle /><a:p><a:pPr lvl="0" indent="0" marL="0" algn="l"><a:buNone /></a:pPr><a14:m><m:oMath xmlns:m="http://schemas.openxmlformats.org/officeDocument/2006/math"><m:r><m:t>Q</m:t></m:r><m:r><m:rPr><m:sty m:val="p" /></m:rPr><m:t>=</m:t></m:r><m:r><m:t>0</m:t></m:r></m:oMath></a14:m><a:r><a:rPr /><a:t>, </a:t></a:r><a14:m><m:oMath xmlns:m="http://schemas.openxmlformats.org/officeDocument/2006/math"><m:sSub><m:e><m:r><m:t>W</m:t></m:r></m:e><m:sub><m:r><m:t>s</m:t></m:r></m:sub></m:sSub><m:r><m:rPr><m:sty m:val="p" /></m:rPr><m:t>=</m:t></m:r><m:r><m:t>0</m:t></m:r></m:oMath></a14:m></a:p></a:txBody></a:tc><a:tc><a:txBody><a:bodyPr /><a:lstStyle /><a:p><a:pPr lvl="0" indent="0" marL="0" algn="l"><a:buNone /></a:pPr><a14:m><m:oMath xmlns:m="http://schemas.openxmlformats.org/officeDocument/2006/math"><m:sSub><m:e><m:r><m:t>H</m:t></m:r></m:e><m:sub><m:r><m:t>i</m:t></m:r><m:r><m:t>n</m:t></m:r></m:sub></m:sSub><m:r><m:rPr><m:sty m:val="p" /></m:rPr><m:t>=</m:t></m:r><m:sSub><m:e><m:r><m:t>H</m:t></m:r></m:e><m:sub><m:r><m:t>o</m:t></m:r><m:r><m:t>u</m:t></m:r><m:r><m:t>t</m:t></m:r></m:sub></m:sSub></m:oMath></a14:m><a:r><a:rPr /><a:t> (isenthalpic)</a:t></a:r></a:p></a:txBody></a:tc></a:tr></a:tbl></a:graphicData></a:graphic></p:graphicFrame></p:spTree></p:cSld>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Joule-Thomson coefficient: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J</m:t>
                        </m:r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rPr>
                                <m:sty m:val="p"/>
                              </m:rPr>
                              <m:t>∂</m:t>
                            </m:r>
                            <m:r>
                              <m:t>T</m:t>
                            </m:r>
                            <m:r>
                              <m:rPr>
                                <m:sty m:val="p"/>
                              </m:rPr>
                              <m:t>/</m:t>
                            </m:r>
                            <m:r>
                              <m:rPr>
                                <m:sty m:val="p"/>
                              </m:rPr>
                              <m:t>∂</m:t>
                            </m:r>
                            <m:r>
                              <m:t>P</m:t>
                            </m:r>
                          </m:e>
                        </m:d>
                      </m:e>
                      <m:sub>
                        <m:r>
                          <m:t>H</m:t>
                        </m:r>
                      </m:sub>
                    </m:sSub>
                  </m:oMath>
                </a14:m>
                <a:r>
                  <a:rPr/>
                  <a:t> — determines whether a fluid warms or cools on throttling.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Rankine Cycle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Harnessing heat to make work drove the </a:t>
                </a:r>
                <a:r>
                  <a:rPr b="1"/>
                  <a:t>Industrial Revolution</a:t>
                </a:r>
                <a:r>
                  <a:rPr/>
                  <a:t>.</a:t>
                </a:r>
              </a:p>
              <a:p>
                <a:pPr lvl="0"/>
                <a:r>
                  <a:rPr/>
                  <a:t>The Carnot cycle is the ideal heat engine, but not practical.</a:t>
                </a:r>
              </a:p>
              <a:p>
                <a:pPr lvl="0"/>
                <a:r>
                  <a:rPr/>
                  <a:t>The </a:t>
                </a:r>
                <a:r>
                  <a:rPr b="1"/>
                  <a:t>Rankine cycle</a:t>
                </a:r>
                <a:r>
                  <a:rPr/>
                  <a:t> is a practical heat engine: boiler → turbine → condenser → pump → boiler.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η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|"/>
                              <m:sepChr m:val=""/>
                              <m:endChr m:val="|"/>
                              <m:grow/>
                            </m:dPr>
                            <m:e>
                              <m:sSub>
                                <m:e>
                                  <m:r>
                                    <m:t>W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  <m:r>
                                    <m:t>u</m:t>
                                  </m:r>
                                  <m:r>
                                    <m:t>r</m:t>
                                  </m:r>
                                  <m:r>
                                    <m:t>b</m:t>
                                  </m:r>
                                  <m:r>
                                    <m:t>i</m:t>
                                  </m:r>
                                  <m:r>
                                    <m:t>n</m:t>
                                  </m:r>
                                  <m:r>
                                    <m:t>e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d>
                            <m:dPr>
                              <m:begChr m:val="|"/>
                              <m:sepChr m:val=""/>
                              <m:endChr m:val="|"/>
                              <m:grow/>
                            </m:dPr>
                            <m:e>
                              <m:sSub>
                                <m:e>
                                  <m:r>
                                    <m:t>W</m:t>
                                  </m:r>
                                </m:e>
                                <m:sub>
                                  <m:r>
                                    <m:t>p</m:t>
                                  </m:r>
                                  <m:r>
                                    <m:t>u</m:t>
                                  </m:r>
                                  <m:r>
                                    <m:t>m</m:t>
                                  </m:r>
                                  <m:r>
                                    <m:t>p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e>
                              <m:r>
                                <m:t>Q</m:t>
                              </m:r>
                            </m:e>
                            <m:sub>
                              <m:r>
                                <m:t>b</m:t>
                              </m:r>
                              <m:r>
                                <m:t>o</m:t>
                              </m:r>
                              <m:r>
                                <m:t>i</m:t>
                              </m:r>
                              <m:r>
                                <m:t>l</m:t>
                              </m:r>
                              <m:r>
                                <m:t>e</m:t>
                              </m:r>
                              <m:r>
                                <m:t>r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Real cycles deviate from ideal through </a:t>
                </a:r>
                <a:r>
                  <a:rPr b="1"/>
                  <a:t>isentropic efficiencies</a:t>
                </a:r>
                <a:r>
                  <a:rPr/>
                  <a:t>.</a:t>
                </a:r>
              </a:p>
              <a:p>
                <a:pPr lvl="0"/>
                <a:r>
                  <a:rPr/>
                  <a:t>Modifications: </a:t>
                </a:r>
                <a:r>
                  <a:rPr b="1"/>
                  <a:t>superheat, reheat, regeneration</a:t>
                </a:r>
                <a:r>
                  <a:rPr/>
                  <a:t> → reduce irreversibilities, improve </a:t>
                </a:r>
                <a14:m>
                  <m:oMath xmlns:m="http://schemas.openxmlformats.org/officeDocument/2006/math">
                    <m:r>
                      <m:t>η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Refrigeration and Liquefaction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Vapor-compression refrigeration:</a:t>
                </a:r>
                <a:r>
                  <a:rPr/>
                  <a:t> Reverses the Rankine cycle concept.</a:t>
                </a:r>
              </a:p>
              <a:p>
                <a:pPr lvl="0"/>
                <a:r>
                  <a:rPr b="1"/>
                  <a:t>Linde liquefaction:</a:t>
                </a:r>
                <a:r>
                  <a:rPr/>
                  <a:t> Repeated throttling (Joule-Thomson expansion) + heat exchange → cryogenic temperatures.</a:t>
                </a:r>
              </a:p>
              <a:p>
                <a:pPr lvl="0"/>
                <a:r>
                  <a:rPr/>
                  <a:t>Key condition: must operate where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J</m:t>
                        </m:r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 (fluid cools on expansion).</a:t>
                </a:r>
              </a:p>
              <a:p>
                <a:pPr lvl="0" indent="0" marL="0">
                  <a:buNone/>
                </a:pPr>
                <a:r>
                  <a:rPr b="1"/>
                  <a:t>The bottleneck in all of this:</a:t>
                </a:r>
                <a:r>
                  <a:rPr/>
                  <a:t> We needed thermodynamic property data (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H</m:t>
                        </m:r>
                      </m:e>
                    </m:acc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S</m:t>
                        </m:r>
                      </m:e>
                    </m:acc>
                  </m:oMath>
                </a14:m>
                <a:r>
                  <a:rPr/>
                  <a:t>) at various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T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P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Steam and refrigerant tables worked — but what about novel or high-pressure fluids?</a:t>
                </a:r>
              </a:p>
              <a:p>
                <a:pPr lvl="0"/>
                <a:r>
                  <a:rPr/>
                  <a:t>Need a </a:t>
                </a:r>
                <a:r>
                  <a:rPr b="1"/>
                  <a:t>general method</a:t>
                </a:r>
                <a:r>
                  <a:rPr/>
                  <a:t> → this launched the second half of the course.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III: The Mathematics of Thermodynamics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Fundamental 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Combining the First and Second Laws for a reversible, closed system: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d</m:t>
                      </m:r>
                      <m:bar>
                        <m:barPr>
                          <m:pos m:val="bot"/>
                        </m:barPr>
                        <m:e>
                          <m:r>
                            <m:t>U</m:t>
                          </m:r>
                        </m:e>
                      </m:bar>
                      <m:r>
                        <m:rPr>
                          <m:sty m:val="p"/>
                        </m:rPr>
                        <m:t>=</m:t>
                      </m:r>
                      <m:r>
                        <m:t>T</m:t>
                      </m:r>
                      <m:r>
                        <m:t> </m:t>
                      </m:r>
                      <m:r>
                        <m:t>d</m:t>
                      </m:r>
                      <m:bar>
                        <m:barPr>
                          <m:pos m:val="bot"/>
                        </m:barPr>
                        <m:e>
                          <m:r>
                            <m:t>S</m:t>
                          </m:r>
                        </m:e>
                      </m:bar>
                      <m:r>
                        <m:rPr>
                          <m:sty m:val="p"/>
                        </m:rPr>
                        <m:t>−</m:t>
                      </m:r>
                      <m:r>
                        <m:t>P</m:t>
                      </m:r>
                      <m:r>
                        <m:t> </m:t>
                      </m:r>
                      <m:r>
                        <m:t>d</m:t>
                      </m:r>
                      <m:bar>
                        <m:barPr>
                          <m:pos m:val="bot"/>
                        </m:barPr>
                        <m:e>
                          <m:r>
                            <m:t>V</m:t>
                          </m:r>
                        </m:e>
                      </m:bar>
                    </m:oMath>
                  </m:oMathPara>
                </a14:m>
              </a:p>
              <a:p>
                <a:pPr lvl="0"/>
                <a:r>
                  <a:rPr/>
                  <a:t>Shows that </a:t>
                </a:r>
                <a14:m>
                  <m:oMath xmlns:m="http://schemas.openxmlformats.org/officeDocument/2006/math">
                    <m:bar>
                      <m:barPr>
                        <m:pos m:val="bot"/>
                      </m:barPr>
                      <m:e>
                        <m:r>
                          <m:t>U</m:t>
                        </m:r>
                      </m:e>
                    </m:bar>
                    <m:r>
                      <m:rPr>
                        <m:sty m:val="p"/>
                      </m:rPr>
                      <m:t>=</m:t>
                    </m:r>
                    <m:bar>
                      <m:barPr>
                        <m:pos m:val="bot"/>
                      </m:barPr>
                      <m:e>
                        <m:r>
                          <m:t>U</m:t>
                        </m:r>
                      </m:e>
                    </m:ba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bar>
                          <m:barPr>
                            <m:pos m:val="bot"/>
                          </m:barPr>
                          <m:e>
                            <m:r>
                              <m:t>S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m:t>,</m:t>
                        </m:r>
                        <m:bar>
                          <m:barPr>
                            <m:pos m:val="bot"/>
                          </m:barPr>
                          <m:e>
                            <m:r>
                              <m:t>V</m:t>
                            </m:r>
                          </m:e>
                        </m:bar>
                      </m:e>
                    </m:d>
                  </m:oMath>
                </a14:m>
                <a:r>
                  <a:rPr/>
                  <a:t>; definitions follow from partial derivatives: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bar>
                                    <m:barPr>
                                      <m:pos m:val="bot"/>
                                    </m:barPr>
                                    <m:e>
                                      <m:r>
                                        <m:t>U</m:t>
                                      </m:r>
                                    </m:e>
                                  </m:ba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bar>
                                    <m:barPr>
                                      <m:pos m:val="bot"/>
                                    </m:barPr>
                                    <m:e>
                                      <m:r>
                                        <m:t>S</m:t>
                                      </m:r>
                                    </m:e>
                                  </m:bar>
                                </m:den>
                              </m:f>
                            </m:e>
                          </m:d>
                        </m:e>
                        <m:sub>
                          <m:r>
                            <m:t>​</m:t>
                          </m:r>
                          <m:bar>
                            <m:barPr>
                              <m:pos m:val="bot"/>
                            </m:barPr>
                            <m:e>
                              <m:r>
                                <m:t>V</m:t>
                              </m:r>
                            </m:e>
                          </m:ba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bar>
                                    <m:barPr>
                                      <m:pos m:val="bot"/>
                                    </m:barPr>
                                    <m:e>
                                      <m:r>
                                        <m:t>U</m:t>
                                      </m:r>
                                    </m:e>
                                  </m:ba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bar>
                                    <m:barPr>
                                      <m:pos m:val="bot"/>
                                    </m:barPr>
                                    <m:e>
                                      <m:r>
                                        <m:t>V</m:t>
                                      </m:r>
                                    </m:e>
                                  </m:bar>
                                </m:den>
                              </m:f>
                            </m:e>
                          </m:d>
                        </m:e>
                        <m:sub>
                          <m:r>
                            <m:t>​</m:t>
                          </m:r>
                          <m:bar>
                            <m:barPr>
                              <m:pos m:val="bot"/>
                            </m:barPr>
                            <m:e>
                              <m:r>
                                <m:t>S</m:t>
                              </m:r>
                            </m:e>
                          </m:bar>
                        </m:sub>
                      </m:sSub>
                    </m:oMath>
                  </m:oMathPara>
                </a14:m>
              </a:p>
              <a:p>
                <a:pPr lvl="0"/>
                <a:r>
                  <a:rPr b="1"/>
                  <a:t>Temperature and pressure are slopes of the thermodynamic energy surface.</a:t>
                </a:r>
              </a:p>
              <a:p>
                <a:pPr lvl="0"/>
                <a:r>
                  <a:rPr/>
                  <a:t>Holds for </a:t>
                </a:r>
                <a:r>
                  <a:rPr i="1"/>
                  <a:t>any</a:t>
                </a:r>
                <a:r>
                  <a:rPr/>
                  <a:t> process between equilibrium states (not just reversible).</a:t>
                </a:r>
              </a:p>
            </p:txBody>
          </p:sp>
        </mc:Choice>
      </mc:AlternateContent>
    </p:spTree>
  </p:cSld>
</p:sld>
</file>

<file path=ppt/slides/slide18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The Legendre Transforms</a:t></a:r></a:p></p:txBody></p:sp><mc:AlternateContent xmlns:mc="http://schemas.openxmlformats.org/markup-compatibility/2006"><mc:Choice xmlns:a14="http://schemas.microsoft.com/office/drawing/2010/main" Requires="a14"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Working in </a:t></a:r><a14:m><m:oMath xmlns:m="http://schemas.openxmlformats.org/officeDocument/2006/math"><m:d><m:dPr><m:begChr m:val="(" /><m:sepChr m:val="" /><m:endChr m:val=")" /><m:grow /></m:dPr><m:e><m:bar><m:barPr><m:pos m:val="bot" /></m:barPr><m:e><m:r><m:t>S</m:t></m:r></m:e></m:bar><m:r><m:rPr><m:sty m:val="p" /></m:rPr><m:t>,</m:t></m:r><m:bar><m:barPr><m:pos m:val="bot" /></m:barPr><m:e><m:r><m:t>V</m:t></m:r></m:e></m:bar></m:e></m:d></m:oMath></a14:m><a:r><a:rPr /><a:t> is inconvenient — we want </a:t></a:r><a14:m><m:oMath xmlns:m="http://schemas.openxmlformats.org/officeDocument/2006/math"><m:d><m:dPr><m:begChr m:val="(" /><m:sepChr m:val="" /><m:endChr m:val=")" /><m:grow /></m:dPr><m:e><m:r><m:t>T</m:t></m:r><m:r><m:rPr><m:sty m:val="p" /></m:rPr><m:t>,</m:t></m:r><m:r><m:t>P</m:t></m:r></m:e></m:d></m:oMath></a14:m><a:r><a:rPr /><a:t>. Legendre transforms give new potentials with convenient natural variables: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270000" /><a:gridCol w="1270000" /><a:gridCol w="1270000" /><a:gridCol w="1270000" /></a:tblGrid><a:tr h="0"><a:tc><a:txBody><a:bodyPr /><a:lstStyle /><a:p><a:pPr lvl="0" indent="0" marL="0" algn="l"><a:buNone /></a:pPr><a:r><a:rPr /><a:t>Potential</a:t></a:r></a:p></a:txBody><a:tcPr /></a:tc><a:tc><a:txBody><a:bodyPr /><a:lstStyle /><a:p><a:pPr lvl="0" indent="0" marL="0" algn="l"><a:buNone /></a:pPr><a:r><a:rPr /><a:t>Definition</a:t></a:r></a:p></a:txBody><a:tcPr /></a:tc><a:tc><a:txBody><a:bodyPr /><a:lstStyle /><a:p><a:pPr lvl="0" indent="0" marL="0" algn="l"><a:buNone /></a:pPr><a:r><a:rPr /><a:t>Natural variables</a:t></a:r></a:p></a:txBody><a:tcPr /></a:tc><a:tc><a:txBody><a:bodyPr /><a:lstStyle /><a:p><a:pPr lvl="0" indent="0" marL="0" algn="l"><a:buNone /></a:pPr><a:r><a:rPr /><a:t>Differential</a:t></a:r></a:p></a:txBody><a:tcPr /></a:tc></a:tr><a:tr h="0"><a:tc><a:txBody><a:bodyPr /><a:lstStyle /><a:p><a:pPr lvl="0" indent="0" marL="0" algn="l"><a:buNone /></a:pPr><a:r><a:rPr /><a:t>Enthalpy </a:t></a:r><a14:m><m:oMath xmlns:m="http://schemas.openxmlformats.org/officeDocument/2006/math"><m:r><m:t>H</m:t></m:r></m:oMath></a14:m></a:p></a:txBody></a:tc><a:tc><a:txBody><a:bodyPr /><a:lstStyle /><a:p><a:pPr lvl="0" indent="0" marL="0" algn="l"><a:buNone /></a:pPr><a14:m><m:oMath xmlns:m="http://schemas.openxmlformats.org/officeDocument/2006/math"><m:r><m:t>U</m:t></m:r><m:r><m:rPr><m:sty m:val="p" /></m:rPr><m:t>+</m:t></m:r><m:r><m:t>P</m:t></m:r><m:r><m:t>V</m:t></m:r></m:oMath></a14:m></a:p></a:txBody></a:tc><a:tc><a:txBody><a:bodyPr /><a:lstStyle /><a:p><a:pPr lvl="0" indent="0" marL="0" algn="l"><a:buNone /></a:pPr><a14:m><m:oMath xmlns:m="http://schemas.openxmlformats.org/officeDocument/2006/math"><m:d><m:dPr><m:begChr m:val="(" /><m:sepChr m:val="" /><m:endChr m:val=")" /><m:grow /></m:dPr><m:e><m:r><m:t>S</m:t></m:r><m:r><m:rPr><m:sty m:val="p" /></m:rPr><m:t>,</m:t></m:r><m:r><m:t>P</m:t></m:r></m:e></m:d></m:oMath></a14:m></a:p></a:txBody></a:tc><a:tc><a:txBody><a:bodyPr /><a:lstStyle /><a:p><a:pPr lvl="0" indent="0" marL="0" algn="l"><a:buNone /></a:pPr><a14:m><m:oMath xmlns:m="http://schemas.openxmlformats.org/officeDocument/2006/math"><m:r><m:t>d</m:t></m:r><m:r><m:t>H</m:t></m:r><m:r><m:rPr><m:sty m:val="p" /></m:rPr><m:t>=</m:t></m:r><m:r><m:t>T</m:t></m:r><m:r><m:t> </m:t></m:r><m:r><m:t>d</m:t></m:r><m:r><m:t>S</m:t></m:r><m:r><m:rPr><m:sty m:val="p" /></m:rPr><m:t>+</m:t></m:r><m:r><m:t>V</m:t></m:r><m:r><m:t> </m:t></m:r><m:r><m:t>d</m:t></m:r><m:r><m:t>P</m:t></m:r></m:oMath></a14:m></a:p></a:txBody></a:tc></a:tr><a:tr h="0"><a:tc><a:txBody><a:bodyPr /><a:lstStyle /><a:p><a:pPr lvl="0" indent="0" marL="0" algn="l"><a:buNone /></a:pPr><a:r><a:rPr /><a:t>Helmholtz </a:t></a:r><a14:m><m:oMath xmlns:m="http://schemas.openxmlformats.org/officeDocument/2006/math"><m:r><m:t>A</m:t></m:r></m:oMath></a14:m></a:p></a:txBody></a:tc><a:tc><a:txBody><a:bodyPr /><a:lstStyle /><a:p><a:pPr lvl="0" indent="0" marL="0" algn="l"><a:buNone /></a:pPr><a14:m><m:oMath xmlns:m="http://schemas.openxmlformats.org/officeDocument/2006/math"><m:r><m:t>U</m:t></m:r><m:r><m:rPr><m:sty m:val="p" /></m:rPr><m:t>−</m:t></m:r><m:r><m:t>T</m:t></m:r><m:r><m:t>S</m:t></m:r></m:oMath></a14:m></a:p></a:txBody></a:tc><a:tc><a:txBody><a:bodyPr /><a:lstStyle /><a:p><a:pPr lvl="0" indent="0" marL="0" algn="l"><a:buNone /></a:pPr><a14:m><m:oMath xmlns:m="http://schemas.openxmlformats.org/officeDocument/2006/math"><m:d><m:dPr><m:begChr m:val="(" /><m:sepChr m:val="" /><m:endChr m:val=")" /><m:grow /></m:dPr><m:e><m:r><m:t>T</m:t></m:r><m:r><m:rPr><m:sty m:val="p" /></m:rPr><m:t>,</m:t></m:r><m:r><m:t>V</m:t></m:r></m:e></m:d></m:oMath></a14:m></a:p></a:txBody></a:tc><a:tc><a:txBody><a:bodyPr /><a:lstStyle /><a:p><a:pPr lvl="0" indent="0" marL="0" algn="l"><a:buNone /></a:pPr><a14:m><m:oMath xmlns:m="http://schemas.openxmlformats.org/officeDocument/2006/math"><m:r><m:t>d</m:t></m:r><m:r><m:t>A</m:t></m:r><m:r><m:rPr><m:sty m:val="p" /></m:rPr><m:t>=</m:t></m:r><m:r><m:rPr><m:sty m:val="p" /></m:rPr><m:t>−</m:t></m:r><m:r><m:t>S</m:t></m:r><m:r><m:t> </m:t></m:r><m:r><m:t>d</m:t></m:r><m:r><m:t>T</m:t></m:r><m:r><m:rPr><m:sty m:val="p" /></m:rPr><m:t>−</m:t></m:r><m:r><m:t>P</m:t></m:r><m:r><m:t> </m:t></m:r><m:r><m:t>d</m:t></m:r><m:r><m:t>V</m:t></m:r></m:oMath></a14:m></a:p></a:txBody></a:tc></a:tr><a:tr h="0"><a:tc><a:txBody><a:bodyPr /><a:lstStyle /><a:p><a:pPr lvl="0" indent="0" marL="0" algn="l"><a:buNone /></a:pPr><a:r><a:rPr /><a:t>Gibbs </a:t></a:r><a14:m><m:oMath xmlns:m="http://schemas.openxmlformats.org/officeDocument/2006/math"><m:r><m:t>G</m:t></m:r></m:oMath></a14:m></a:p></a:txBody></a:tc><a:tc><a:txBody><a:bodyPr /><a:lstStyle /><a:p><a:pPr lvl="0" indent="0" marL="0" algn="l"><a:buNone /></a:pPr><a14:m><m:oMath xmlns:m="http://schemas.openxmlformats.org/officeDocument/2006/math"><m:r><m:t>U</m:t></m:r><m:r><m:rPr><m:sty m:val="p" /></m:rPr><m:t>+</m:t></m:r><m:r><m:t>P</m:t></m:r><m:r><m:t>V</m:t></m:r><m:r><m:rPr><m:sty m:val="p" /></m:rPr><m:t>−</m:t></m:r><m:r><m:t>T</m:t></m:r><m:r><m:t>S</m:t></m:r></m:oMath></a14:m></a:p></a:txBody></a:tc><a:tc><a:txBody><a:bodyPr /><a:lstStyle /><a:p><a:pPr lvl="0" indent="0" marL="0" algn="l"><a:buNone /></a:pPr><a14:m><m:oMath xmlns:m="http://schemas.openxmlformats.org/officeDocument/2006/math"><m:d><m:dPr><m:begChr m:val="(" /><m:sepChr m:val="" /><m:endChr m:val=")" /><m:grow /></m:dPr><m:e><m:r><m:t>T</m:t></m:r><m:r><m:rPr><m:sty m:val="p" /></m:rPr><m:t>,</m:t></m:r><m:r><m:t>P</m:t></m:r></m:e></m:d></m:oMath></a14:m></a:p></a:txBody></a:tc><a:tc><a:txBody><a:bodyPr /><a:lstStyle /><a:p><a:pPr lvl="0" indent="0" marL="0" algn="l"><a:buNone /></a:pPr><a14:m><m:oMath xmlns:m="http://schemas.openxmlformats.org/officeDocument/2006/math"><m:r><m:t>d</m:t></m:r><m:r><m:t>G</m:t></m:r><m:r><m:rPr><m:sty m:val="p" /></m:rPr><m:t>=</m:t></m:r><m:r><m:rPr><m:sty m:val="p" /></m:rPr><m:t>−</m:t></m:r><m:r><m:t>S</m:t></m:r><m:r><m:t> </m:t></m:r><m:r><m:t>d</m:t></m:r><m:r><m:t>T</m:t></m:r><m:r><m:rPr><m:sty m:val="p" /></m:rPr><m:t>+</m:t></m:r><m:r><m:t>V</m:t></m:r><m:r><m:t> </m:t></m:r><m:r><m:t>d</m:t></m:r><m:r><m:t>P</m:t></m:r></m:oMath></a14:m></a:p></a:txBody></a:tc></a:tr></a:tbl></a:graphicData></a:graphic></p:graphicFrame></p:spTree></p:cSld>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Gibbs free energy</a:t>
                </a:r>
                <a:r>
                  <a:rPr/>
                  <a:t> is the natural potential for constant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processes → governs phase equilibrium.</a:t>
                </a:r>
              </a:p>
            </p:txBody>
          </p:sp>
        </mc:Choice>
      </mc:AlternateContent>
    </p:spTree>
  </p:cSld>
</p:sld>
</file>

<file path=ppt/slides/slide20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The Maxwell Relations</a:t></a:r></a:p></p:txBody></p:sp><mc:AlternateContent xmlns:mc="http://schemas.openxmlformats.org/markup-compatibility/2006"><mc:Choice xmlns:a14="http://schemas.microsoft.com/office/drawing/2010/main" Requires="a14"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Because </a:t></a:r><a14:m><m:oMath xmlns:m="http://schemas.openxmlformats.org/officeDocument/2006/math"><m:r><m:t>U</m:t></m:r></m:oMath></a14:m><a:r><a:rPr /><a:t>, </a:t></a:r><a14:m><m:oMath xmlns:m="http://schemas.openxmlformats.org/officeDocument/2006/math"><m:r><m:t>H</m:t></m:r></m:oMath></a14:m><a:r><a:rPr /><a:t>, </a:t></a:r><a14:m><m:oMath xmlns:m="http://schemas.openxmlformats.org/officeDocument/2006/math"><m:r><m:t>A</m:t></m:r></m:oMath></a14:m><a:r><a:rPr /><a:t>, </a:t></a:r><a14:m><m:oMath xmlns:m="http://schemas.openxmlformats.org/officeDocument/2006/math"><m:r><m:t>G</m:t></m:r></m:oMath></a14:m><a:r><a:rPr /><a:t> are exact differentials, mixed partial derivatives commute → four Maxwell relations: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2311400" /><a:gridCol w="2794000" /></a:tblGrid><a:tr h="0"><a:tc><a:txBody><a:bodyPr /><a:lstStyle /><a:p><a:pPr lvl="0" indent="0" marL="0" algn="l"><a:buNone /></a:pPr><a:r><a:rPr /><a:t>Derived from</a:t></a:r></a:p></a:txBody><a:tcPr /></a:tc><a:tc><a:txBody><a:bodyPr /><a:lstStyle /><a:p><a:pPr lvl="0" indent="0" marL="0" algn="l"><a:buNone /></a:pPr><a:r><a:rPr /><a:t>Maxwell relation</a:t></a:r></a:p></a:txBody><a:tcPr /></a:tc></a:tr><a:tr h="0"><a:tc><a:txBody><a:bodyPr /><a:lstStyle /><a:p><a:pPr lvl="0" indent="0" marL="0" algn="l"><a:buNone /></a:pPr><a14:m><m:oMath xmlns:m="http://schemas.openxmlformats.org/officeDocument/2006/math"><m:r><m:t>d</m:t></m:r><m:r><m:t>U</m:t></m:r><m:r><m:rPr><m:sty m:val="p" /></m:rPr><m:t>=</m:t></m:r><m:r><m:t>T</m:t></m:r><m:r><m:t> </m:t></m:r><m:r><m:t>d</m:t></m:r><m:r><m:t>S</m:t></m:r><m:r><m:rPr><m:sty m:val="p" /></m:rPr><m:t>−</m:t></m:r><m:r><m:t>P</m:t></m:r><m:r><m:t> </m:t></m:r><m:r><m:t>d</m:t></m:r><m:r><m:t>V</m:t></m:r></m:oMath></a14:m></a:p></a:txBody></a:tc><a:tc><a:txBody><a:bodyPr /><a:lstStyle /><a:p><a:pPr lvl="0" indent="0" marL="0" algn="l"><a:buNone /></a:pPr><a14:m><m:oMath xmlns:m="http://schemas.openxmlformats.org/officeDocument/2006/math"><m:sSub><m:e><m:d><m:dPr><m:begChr m:val="(" /><m:sepChr m:val="" /><m:endChr m:val=")" /><m:grow /></m:dPr><m:e><m:f><m:fPr><m:type m:val="bar" /></m:fPr><m:num><m:r><m:rPr><m:sty m:val="p" /></m:rPr><m:t>∂</m:t></m:r><m:r><m:t>T</m:t></m:r></m:num><m:den><m:r><m:rPr><m:sty m:val="p" /></m:rPr><m:t>∂</m:t></m:r><m:r><m:t>V</m:t></m:r></m:den></m:f></m:e></m:d></m:e><m:sub><m:r><m:t>S</m:t></m:r></m:sub></m:sSub><m:r><m:rPr><m:sty m:val="p" /></m:rPr><m:t>=</m:t></m:r><m:r><m:rPr><m:sty m:val="p" /></m:rPr><m:t>−</m:t></m:r><m:sSub><m:e><m:d><m:dPr><m:begChr m:val="(" /><m:sepChr m:val="" /><m:endChr m:val=")" /><m:grow /></m:dPr><m:e><m:f><m:fPr><m:type m:val="bar" /></m:fPr><m:num><m:r><m:rPr><m:sty m:val="p" /></m:rPr><m:t>∂</m:t></m:r><m:r><m:t>P</m:t></m:r></m:num><m:den><m:r><m:rPr><m:sty m:val="p" /></m:rPr><m:t>∂</m:t></m:r><m:r><m:t>S</m:t></m:r></m:den></m:f></m:e></m:d></m:e><m:sub><m:r><m:t>V</m:t></m:r></m:sub></m:sSub></m:oMath></a14:m></a:p></a:txBody></a:tc></a:tr><a:tr h="0"><a:tc><a:txBody><a:bodyPr /><a:lstStyle /><a:p><a:pPr lvl="0" indent="0" marL="0" algn="l"><a:buNone /></a:pPr><a14:m><m:oMath xmlns:m="http://schemas.openxmlformats.org/officeDocument/2006/math"><m:r><m:t>d</m:t></m:r><m:r><m:t>H</m:t></m:r><m:r><m:rPr><m:sty m:val="p" /></m:rPr><m:t>=</m:t></m:r><m:r><m:t>T</m:t></m:r><m:r><m:t> </m:t></m:r><m:r><m:t>d</m:t></m:r><m:r><m:t>S</m:t></m:r><m:r><m:rPr><m:sty m:val="p" /></m:rPr><m:t>+</m:t></m:r><m:r><m:t>V</m:t></m:r><m:r><m:t> </m:t></m:r><m:r><m:t>d</m:t></m:r><m:r><m:t>P</m:t></m:r></m:oMath></a14:m></a:p></a:txBody></a:tc><a:tc><a:txBody><a:bodyPr /><a:lstStyle /><a:p><a:pPr lvl="0" indent="0" marL="0" algn="l"><a:buNone /></a:pPr><a14:m><m:oMath xmlns:m="http://schemas.openxmlformats.org/officeDocument/2006/math"><m:sSub><m:e><m:d><m:dPr><m:begChr m:val="(" /><m:sepChr m:val="" /><m:endChr m:val=")" /><m:grow /></m:dPr><m:e><m:f><m:fPr><m:type m:val="bar" /></m:fPr><m:num><m:r><m:rPr><m:sty m:val="p" /></m:rPr><m:t>∂</m:t></m:r><m:r><m:t>T</m:t></m:r></m:num><m:den><m:r><m:rPr><m:sty m:val="p" /></m:rPr><m:t>∂</m:t></m:r><m:r><m:t>P</m:t></m:r></m:den></m:f></m:e></m:d></m:e><m:sub><m:r><m:t>S</m:t></m:r></m:sub></m:sSub><m:r><m:rPr><m:sty m:val="p" /></m:rPr><m:t>=</m:t></m:r><m:sSub><m:e><m:d><m:dPr><m:begChr m:val="(" /><m:sepChr m:val="" /><m:endChr m:val=")" /><m:grow /></m:dPr><m:e><m:f><m:fPr><m:type m:val="bar" /></m:fPr><m:num><m:r><m:rPr><m:sty m:val="p" /></m:rPr><m:t>∂</m:t></m:r><m:r><m:t>V</m:t></m:r></m:num><m:den><m:r><m:rPr><m:sty m:val="p" /></m:rPr><m:t>∂</m:t></m:r><m:r><m:t>S</m:t></m:r></m:den></m:f></m:e></m:d></m:e><m:sub><m:r><m:t>P</m:t></m:r></m:sub></m:sSub></m:oMath></a14:m></a:p></a:txBody></a:tc></a:tr><a:tr h="0"><a:tc><a:txBody><a:bodyPr /><a:lstStyle /><a:p><a:pPr lvl="0" indent="0" marL="0" algn="l"><a:buNone /></a:pPr><a14:m><m:oMath xmlns:m="http://schemas.openxmlformats.org/officeDocument/2006/math"><m:r><m:t>d</m:t></m:r><m:r><m:t>A</m:t></m:r><m:r><m:rPr><m:sty m:val="p" /></m:rPr><m:t>=</m:t></m:r><m:r><m:rPr><m:sty m:val="p" /></m:rPr><m:t>−</m:t></m:r><m:r><m:t>S</m:t></m:r><m:r><m:t> </m:t></m:r><m:r><m:t>d</m:t></m:r><m:r><m:t>T</m:t></m:r><m:r><m:rPr><m:sty m:val="p" /></m:rPr><m:t>−</m:t></m:r><m:r><m:t>P</m:t></m:r><m:r><m:t> </m:t></m:r><m:r><m:t>d</m:t></m:r><m:r><m:t>V</m:t></m:r></m:oMath></a14:m></a:p></a:txBody></a:tc><a:tc><a:txBody><a:bodyPr /><a:lstStyle /><a:p><a:pPr lvl="0" indent="0" marL="0" algn="l"><a:buNone /></a:pPr><a14:m><m:oMath xmlns:m="http://schemas.openxmlformats.org/officeDocument/2006/math"><m:sSub><m:e><m:d><m:dPr><m:begChr m:val="(" /><m:sepChr m:val="" /><m:endChr m:val=")" /><m:grow /></m:dPr><m:e><m:f><m:fPr><m:type m:val="bar" /></m:fPr><m:num><m:r><m:rPr><m:sty m:val="p" /></m:rPr><m:t>∂</m:t></m:r><m:r><m:t>S</m:t></m:r></m:num><m:den><m:r><m:rPr><m:sty m:val="p" /></m:rPr><m:t>∂</m:t></m:r><m:r><m:t>V</m:t></m:r></m:den></m:f></m:e></m:d></m:e><m:sub><m:r><m:t>T</m:t></m:r></m:sub></m:sSub><m:r><m:rPr><m:sty m:val="p" /></m:rPr><m:t>=</m:t></m:r><m:sSub><m:e><m:d><m:dPr><m:begChr m:val="(" /><m:sepChr m:val="" /><m:endChr m:val=")" /><m:grow /></m:dPr><m:e><m:f><m:fPr><m:type m:val="bar" /></m:fPr><m:num><m:r><m:rPr><m:sty m:val="p" /></m:rPr><m:t>∂</m:t></m:r><m:r><m:t>P</m:t></m:r></m:num><m:den><m:r><m:rPr><m:sty m:val="p" /></m:rPr><m:t>∂</m:t></m:r><m:r><m:t>T</m:t></m:r></m:den></m:f></m:e></m:d></m:e><m:sub><m:r><m:t>V</m:t></m:r></m:sub></m:sSub></m:oMath></a14:m></a:p></a:txBody></a:tc></a:tr><a:tr h="0"><a:tc><a:txBody><a:bodyPr /><a:lstStyle /><a:p><a:pPr lvl="0" indent="0" marL="0" algn="l"><a:buNone /></a:pPr><a14:m><m:oMath xmlns:m="http://schemas.openxmlformats.org/officeDocument/2006/math"><m:r><m:t>d</m:t></m:r><m:r><m:t>G</m:t></m:r><m:r><m:rPr><m:sty m:val="p" /></m:rPr><m:t>=</m:t></m:r><m:r><m:rPr><m:sty m:val="p" /></m:rPr><m:t>−</m:t></m:r><m:r><m:t>S</m:t></m:r><m:r><m:t> </m:t></m:r><m:r><m:t>d</m:t></m:r><m:r><m:t>T</m:t></m:r><m:r><m:rPr><m:sty m:val="p" /></m:rPr><m:t>+</m:t></m:r><m:r><m:t>V</m:t></m:r><m:r><m:t> </m:t></m:r><m:r><m:t>d</m:t></m:r><m:r><m:t>P</m:t></m:r></m:oMath></a14:m></a:p></a:txBody></a:tc><a:tc><a:txBody><a:bodyPr /><a:lstStyle /><a:p><a:pPr lvl="0" indent="0" marL="0" algn="l"><a:buNone /></a:pPr><a14:m><m:oMath xmlns:m="http://schemas.openxmlformats.org/officeDocument/2006/math"><m:r><m:rPr><m:sty m:val="p" /></m:rPr><m:t>−</m:t></m:r><m:sSub><m:e><m:d><m:dPr><m:begChr m:val="(" /><m:sepChr m:val="" /><m:endChr m:val=")" /><m:grow /></m:dPr><m:e><m:f><m:fPr><m:type m:val="bar" /></m:fPr><m:num><m:r><m:rPr><m:sty m:val="p" /></m:rPr><m:t>∂</m:t></m:r><m:r><m:t>S</m:t></m:r></m:num><m:den><m:r><m:rPr><m:sty m:val="p" /></m:rPr><m:t>∂</m:t></m:r><m:r><m:t>P</m:t></m:r></m:den></m:f></m:e></m:d></m:e><m:sub><m:r><m:t>T</m:t></m:r></m:sub></m:sSub><m:r><m:rPr><m:sty m:val="p" /></m:rPr><m:t>=</m:t></m:r><m:sSub><m:e><m:d><m:dPr><m:begChr m:val="(" /><m:sepChr m:val="" /><m:endChr m:val=")" /><m:grow /></m:dPr><m:e><m:f><m:fPr><m:type m:val="bar" /></m:fPr><m:num><m:r><m:rPr><m:sty m:val="p" /></m:rPr><m:t>∂</m:t></m:r><m:r><m:t>V</m:t></m:r></m:num><m:den><m:r><m:rPr><m:sty m:val="p" /></m:rPr><m:t>∂</m:t></m:r><m:r><m:t>T</m:t></m:r></m:den></m:f></m:e></m:d></m:e><m:sub><m:r><m:t>P</m:t></m:r></m:sub></m:sSub></m:oMath></a14:m></a:p></a:txBody></a:tc></a:tr></a:tbl></a:graphicData></a:graphic></p:graphicFrame></p:spTree></p:cSld>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last two are most useful: they convert </a:t>
            </a:r>
            <a:r>
              <a:rPr b="1"/>
              <a:t>unmeasurable entropy derivatives</a:t>
            </a:r>
            <a:r>
              <a:rPr/>
              <a:t> into PVT derivatives that an EOS provides.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General Property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Combining exact differentials + Maxwell relations + calculus identities: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d</m:t>
                      </m:r>
                      <m:bar>
                        <m:barPr>
                          <m:pos m:val="bot"/>
                        </m:barPr>
                        <m:e>
                          <m:r>
                            <m:t>H</m:t>
                          </m:r>
                        </m:e>
                      </m:ba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t> </m:t>
                      </m:r>
                      <m:r>
                        <m:t>d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+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bar>
                            <m:barPr>
                              <m:pos m:val="bot"/>
                            </m:barPr>
                            <m:e>
                              <m:r>
                                <m:t>V</m:t>
                              </m:r>
                            </m:e>
                          </m:ba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T</m:t>
                          </m:r>
                          <m:r>
                            <m:t>​</m:t>
                          </m:r>
                          <m:sSub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f>
                                    <m:fPr>
                                      <m:type m:val="bar"/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m:t>∂</m:t>
                                      </m:r>
                                      <m:bar>
                                        <m:barPr>
                                          <m:pos m:val="bot"/>
                                        </m:barPr>
                                        <m:e>
                                          <m:r>
                                            <m:t>V</m:t>
                                          </m:r>
                                        </m:e>
                                      </m:ba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m:t>∂</m:t>
                                      </m:r>
                                      <m:r>
                                        <m:t>T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m:t>​</m:t>
                              </m:r>
                              <m:r>
                                <m:t>P</m:t>
                              </m:r>
                            </m:sub>
                          </m:sSub>
                        </m:e>
                      </m:d>
                      <m:r>
                        <m:t>d</m:t>
                      </m:r>
                      <m:r>
                        <m:t>P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d</m:t>
                      </m:r>
                      <m:bar>
                        <m:barPr>
                          <m:pos m:val="bot"/>
                        </m:barPr>
                        <m:e>
                          <m:r>
                            <m:t>S</m:t>
                          </m:r>
                        </m:e>
                      </m:ba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P</m:t>
                              </m:r>
                            </m:sub>
                          </m:sSub>
                        </m:num>
                        <m:den>
                          <m:r>
                            <m:t>T</m:t>
                          </m:r>
                        </m:den>
                      </m:f>
                      <m:r>
                        <m:t> </m:t>
                      </m:r>
                      <m:r>
                        <m:t>d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bar>
                                    <m:barPr>
                                      <m:pos m:val="bot"/>
                                    </m:barPr>
                                    <m:e>
                                      <m:r>
                                        <m:t>V</m:t>
                                      </m:r>
                                    </m:e>
                                  </m:ba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r>
                                    <m:t>T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t>​</m:t>
                          </m:r>
                          <m:r>
                            <m:t>P</m:t>
                          </m:r>
                        </m:sub>
                      </m:sSub>
                      <m:r>
                        <m:t>d</m:t>
                      </m:r>
                      <m:r>
                        <m:t>P</m:t>
                      </m:r>
                    </m:oMath>
                  </m:oMathPara>
                </a14:m>
              </a:p>
              <a:p>
                <a:pPr lvl="0"/>
                <a:r>
                  <a:rPr b="1"/>
                  <a:t>Exact expressions</a:t>
                </a:r>
                <a:r>
                  <a:rPr/>
                  <a:t> relating </a:t>
                </a:r>
                <a14:m>
                  <m:oMath xmlns:m="http://schemas.openxmlformats.org/officeDocument/2006/math">
                    <m:bar>
                      <m:barPr>
                        <m:pos m:val="bot"/>
                      </m:barPr>
                      <m:e>
                        <m:r>
                          <m:t>H</m:t>
                        </m:r>
                      </m:e>
                    </m:ba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bar>
                      <m:barPr>
                        <m:pos m:val="bot"/>
                      </m:barPr>
                      <m:e>
                        <m:r>
                          <m:t>S</m:t>
                        </m:r>
                      </m:e>
                    </m:bar>
                  </m:oMath>
                </a14:m>
                <a:r>
                  <a:rPr/>
                  <a:t> to measurable quantities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T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P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bar>
                          <m:barPr>
                            <m:pos m:val="bot"/>
                          </m:barPr>
                          <m:e>
                            <m:r>
                              <m:t>V</m:t>
                            </m:r>
                          </m:e>
                        </m:ba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An EOS provides </a:t>
                </a:r>
                <a14:m>
                  <m:oMath xmlns:m="http://schemas.openxmlformats.org/officeDocument/2006/math">
                    <m:bar>
                      <m:barPr>
                        <m:pos m:val="bot"/>
                      </m:barPr>
                      <m:e>
                        <m:r>
                          <m:t>V</m:t>
                        </m:r>
                      </m:e>
                    </m:ba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T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P</m:t>
                        </m:r>
                      </m:e>
                    </m:d>
                  </m:oMath>
                </a14:m>
                <a:r>
                  <a:rPr/>
                  <a:t> — but real EOS make these integrals messy.</a:t>
                </a:r>
              </a:p>
              <a:p>
                <a:pPr lvl="0"/>
                <a:r>
                  <a:rPr b="1"/>
                  <a:t>Solution coming next:</a:t>
                </a:r>
                <a:r>
                  <a:rPr/>
                  <a:t> the residual property framework.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IV: Equations of State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Corresponding States Principle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At the same </a:t>
                </a:r>
                <a:r>
                  <a:rPr b="1"/>
                  <a:t>reduced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T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T</m:t>
                    </m:r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P</m:t>
                    </m:r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P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, fluids behave similarly: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Z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T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  <a:p>
                <a:pPr lvl="0"/>
                <a:r>
                  <a:rPr/>
                  <a:t>The </a:t>
                </a:r>
                <a:r>
                  <a:rPr b="1"/>
                  <a:t>acentric factor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ω</m:t>
                    </m:r>
                  </m:oMath>
                </a14:m>
                <a:r>
                  <a:rPr/>
                  <a:t> corrects for non-spherical molecules: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Z</m:t>
                      </m:r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Z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</m:t>
                              </m:r>
                            </m:e>
                          </m:d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T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ω</m:t>
                      </m:r>
                      <m:r>
                        <m:t> </m:t>
                      </m:r>
                      <m:sSup>
                        <m:e>
                          <m:r>
                            <m:t>Z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T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  <a:p>
                <a:pPr lvl="0"/>
                <a:r>
                  <a:rPr b="1"/>
                  <a:t>Pitzer-type correlations (Lee-Kesler):</a:t>
                </a:r>
                <a:r>
                  <a:rPr/>
                  <a:t> estimate residual properties from </a:t>
                </a:r>
                <a14:m>
                  <m:oMath xmlns:m="http://schemas.openxmlformats.org/officeDocument/2006/math">
                    <m:sSub>
                      <m:e>
                        <m:r>
                          <m:t>T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ω</m:t>
                    </m:r>
                  </m:oMath>
                </a14:m>
                <a:r>
                  <a:rPr/>
                  <a:t> alone — no EOS needed.</a:t>
                </a:r>
              </a:p>
            </p:txBody>
          </p:sp>
        </mc:Choice>
      </mc:AlternateContent>
    </p:spTree>
  </p:cSld>
</p:sld>
</file>

<file path=ppt/slides/slide25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Cubic Equations of State</a:t></a:r></a:p></p:txBody></p:sp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All cubic EOS share the same structure: repulsive term + attractive term.</a:t></a:r></a:p></p:txBody></p:sp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498600" /><a:gridCol w="3606800" /></a:tblGrid><a:tr h="0"><a:tc><a:txBody><a:bodyPr /><a:lstStyle /><a:p><a:pPr lvl="0" indent="0" marL="0" algn="l"><a:buNone /></a:pPr><a:r><a:rPr /><a:t>EOS</a:t></a:r></a:p></a:txBody><a:tcPr /></a:tc><a:tc><a:txBody><a:bodyPr /><a:lstStyle /><a:p><a:pPr lvl="0" indent="0" marL="0" algn="l"><a:buNone /></a:pPr><a:r><a:rPr /><a:t>Expression</a:t></a:r></a:p></a:txBody><a:tcPr /></a:tc></a:tr><a:tr h="0"><a:tc><a:txBody><a:bodyPr /><a:lstStyle /><a:p><a:pPr lvl="0" indent="0" marL="0" algn="l"><a:buNone /></a:pPr><a:r><a:rPr /><a:t>van der Waals</a:t></a:r></a:p></a:txBody></a:tc><a:tc><a:txBody><a:bodyPr /><a:lstStyle /><a:p><a:pPr lvl="0" indent="0" marL="0" algn="l"><a:buNone /></a:pPr><a14:m><m:oMath xmlns:m="http://schemas.openxmlformats.org/officeDocument/2006/math"><m:r><m:t>P</m:t></m:r><m:r><m:rPr><m:sty m:val="p" /></m:rPr><m:t>=</m:t></m:r><m:f><m:fPr><m:type m:val="bar" /></m:fPr><m:num><m:r><m:t>R</m:t></m:r><m:r><m:t>T</m:t></m:r></m:num><m:den><m:bar><m:barPr><m:pos m:val="bot" /></m:barPr><m:e><m:r><m:t>V</m:t></m:r></m:e></m:bar><m:r><m:rPr><m:sty m:val="p" /></m:rPr><m:t>−</m:t></m:r><m:r><m:t>b</m:t></m:r></m:den></m:f><m:r><m:rPr><m:sty m:val="p" /></m:rPr><m:t>−</m:t></m:r><m:f><m:fPr><m:type m:val="bar" /></m:fPr><m:num><m:r><m:t>a</m:t></m:r></m:num><m:den><m:sSup><m:e><m:bar><m:barPr><m:pos m:val="bot" /></m:barPr><m:e><m:r><m:t>V</m:t></m:r></m:e></m:bar></m:e><m:sup><m:r><m:t>2</m:t></m:r></m:sup></m:sSup></m:den></m:f></m:oMath></a14:m></a:p></a:txBody></a:tc></a:tr><a:tr h="0"><a:tc><a:txBody><a:bodyPr /><a:lstStyle /><a:p><a:pPr lvl="0" indent="0" marL="0" algn="l"><a:buNone /></a:pPr><a:r><a:rPr /><a:t>SRK</a:t></a:r></a:p></a:txBody></a:tc><a:tc><a:txBody><a:bodyPr /><a:lstStyle /><a:p><a:pPr lvl="0" indent="0" marL="0" algn="l"><a:buNone /></a:pPr><a14:m><m:oMath xmlns:m="http://schemas.openxmlformats.org/officeDocument/2006/math"><m:r><m:t>P</m:t></m:r><m:r><m:rPr><m:sty m:val="p" /></m:rPr><m:t>=</m:t></m:r><m:f><m:fPr><m:type m:val="bar" /></m:fPr><m:num><m:r><m:t>R</m:t></m:r><m:r><m:t>T</m:t></m:r></m:num><m:den><m:bar><m:barPr><m:pos m:val="bot" /></m:barPr><m:e><m:r><m:t>V</m:t></m:r></m:e></m:bar><m:r><m:rPr><m:sty m:val="p" /></m:rPr><m:t>−</m:t></m:r><m:r><m:t>b</m:t></m:r></m:den></m:f><m:r><m:rPr><m:sty m:val="p" /></m:rPr><m:t>−</m:t></m:r><m:f><m:fPr><m:type m:val="bar" /></m:fPr><m:num><m:r><m:t>a</m:t></m:r><m:r><m:t> </m:t></m:r><m:r><m:t>α</m:t></m:r><m:d><m:dPr><m:begChr m:val="(" /><m:sepChr m:val="" /><m:endChr m:val=")" /><m:grow /></m:dPr><m:e><m:r><m:t>T</m:t></m:r></m:e></m:d></m:num><m:den><m:bar><m:barPr><m:pos m:val="bot" /></m:barPr><m:e><m:r><m:t>V</m:t></m:r></m:e></m:bar><m:d><m:dPr><m:begChr m:val="(" /><m:sepChr m:val="" /><m:endChr m:val=")" /><m:grow /></m:dPr><m:e><m:bar><m:barPr><m:pos m:val="bot" /></m:barPr><m:e><m:r><m:t>V</m:t></m:r></m:e></m:bar><m:r><m:rPr><m:sty m:val="p" /></m:rPr><m:t>+</m:t></m:r><m:r><m:t>b</m:t></m:r></m:e></m:d></m:den></m:f></m:oMath></a14:m></a:p></a:txBody></a:tc></a:tr><a:tr h="0"><a:tc><a:txBody><a:bodyPr /><a:lstStyle /><a:p><a:pPr lvl="0" indent="0" marL="0" algn="l"><a:buNone /></a:pPr><a:r><a:rPr /><a:t>Peng-Robinson</a:t></a:r></a:p></a:txBody></a:tc><a:tc><a:txBody><a:bodyPr /><a:lstStyle /><a:p><a:pPr lvl="0" indent="0" marL="0" algn="l"><a:buNone /></a:pPr><a14:m><m:oMath xmlns:m="http://schemas.openxmlformats.org/officeDocument/2006/math"><m:r><m:t>P</m:t></m:r><m:r><m:rPr><m:sty m:val="p" /></m:rPr><m:t>=</m:t></m:r><m:f><m:fPr><m:type m:val="bar" /></m:fPr><m:num><m:r><m:t>R</m:t></m:r><m:r><m:t>T</m:t></m:r></m:num><m:den><m:bar><m:barPr><m:pos m:val="bot" /></m:barPr><m:e><m:r><m:t>V</m:t></m:r></m:e></m:bar><m:r><m:rPr><m:sty m:val="p" /></m:rPr><m:t>−</m:t></m:r><m:r><m:t>b</m:t></m:r></m:den></m:f><m:r><m:rPr><m:sty m:val="p" /></m:rPr><m:t>−</m:t></m:r><m:f><m:fPr><m:type m:val="bar" /></m:fPr><m:num><m:r><m:t>a</m:t></m:r><m:r><m:t> </m:t></m:r><m:r><m:t>α</m:t></m:r><m:d><m:dPr><m:begChr m:val="(" /><m:sepChr m:val="" /><m:endChr m:val=")" /><m:grow /></m:dPr><m:e><m:r><m:t>T</m:t></m:r></m:e></m:d></m:num><m:den><m:bar><m:barPr><m:pos m:val="bot" /></m:barPr><m:e><m:r><m:t>V</m:t></m:r></m:e></m:bar><m:d><m:dPr><m:begChr m:val="(" /><m:sepChr m:val="" /><m:endChr m:val=")" /><m:grow /></m:dPr><m:e><m:bar><m:barPr><m:pos m:val="bot" /></m:barPr><m:e><m:r><m:t>V</m:t></m:r></m:e></m:bar><m:r><m:rPr><m:sty m:val="p" /></m:rPr><m:t>+</m:t></m:r><m:r><m:t>b</m:t></m:r></m:e></m:d><m:r><m:rPr><m:sty m:val="p" /></m:rPr><m:t>+</m:t></m:r><m:r><m:t>b</m:t></m:r><m:d><m:dPr><m:begChr m:val="(" /><m:sepChr m:val="" /><m:endChr m:val=")" /><m:grow /></m:dPr><m:e><m:bar><m:barPr><m:pos m:val="bot" /></m:barPr><m:e><m:r><m:t>V</m:t></m:r></m:e></m:bar><m:r><m:rPr><m:sty m:val="p" /></m:rPr><m:t>−</m:t></m:r><m:r><m:t>b</m:t></m:r></m:e></m:d></m:den></m:f></m:oMath></a14:m></a:p></a:txBody></a:tc></a:tr></a:tbl></a:graphicData></a:graphic></p:graphicFrame></p:spTree></p:cSld>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Parameters determined entirely from </a:t>
                </a:r>
                <a14:m>
                  <m:oMath xmlns:m="http://schemas.openxmlformats.org/officeDocument/2006/math">
                    <m:sSub>
                      <m:e>
                        <m:r>
                          <m:t>T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ω</m:t>
                    </m:r>
                  </m:oMath>
                </a14:m>
                <a:r>
                  <a:rPr/>
                  <a:t> — universally applicable.</a:t>
                </a:r>
              </a:p>
              <a:p>
                <a:pPr lvl="0"/>
                <a:r>
                  <a:rPr/>
                  <a:t>Up to </a:t>
                </a:r>
                <a:r>
                  <a:rPr b="1"/>
                  <a:t>three real volume roots</a:t>
                </a:r>
                <a:r>
                  <a:rPr/>
                  <a:t> inside the two-phase envelope.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Virial Equation of State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Rigorous statistical-mechanical foundation: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Z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B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T</m:t>
                              </m:r>
                            </m:e>
                          </m:d>
                        </m:num>
                        <m:den>
                          <m:bar>
                            <m:barPr>
                              <m:pos m:val="bot"/>
                            </m:barPr>
                            <m:e>
                              <m:r>
                                <m:t>V</m:t>
                              </m:r>
                            </m:e>
                          </m:bar>
                        </m:den>
                      </m:f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C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T</m:t>
                              </m:r>
                            </m:e>
                          </m:d>
                        </m:num>
                        <m:den>
                          <m:sSup>
                            <m:e>
                              <m:bar>
                                <m:barPr>
                                  <m:pos m:val="bot"/>
                                </m:barPr>
                                <m:e>
                                  <m:r>
                                    <m:t>V</m:t>
                                  </m:r>
                                </m:e>
                              </m:ba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⋯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B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  <m:r>
                            <m:t>P</m:t>
                          </m:r>
                        </m:num>
                        <m:den>
                          <m:r>
                            <m:t>R</m:t>
                          </m:r>
                          <m:r>
                            <m:t>T</m:t>
                          </m:r>
                        </m:den>
                      </m:f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(truncated, pressure series)</m:t>
                      </m:r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T</m:t>
                        </m:r>
                      </m:e>
                    </m:d>
                  </m:oMath>
                </a14:m>
                <a:r>
                  <a:rPr/>
                  <a:t>: second virial coefficient — captures </a:t>
                </a:r>
                <a:r>
                  <a:rPr b="1"/>
                  <a:t>pairwise intermolecular interactions</a:t>
                </a:r>
                <a:r>
                  <a:rPr/>
                  <a:t>.</a:t>
                </a:r>
              </a:p>
              <a:p>
                <a:pPr lvl="0"/>
                <a:r>
                  <a:rPr/>
                  <a:t>Useful for gas-phase calculations at </a:t>
                </a:r>
                <a:r>
                  <a:rPr b="1"/>
                  <a:t>moderate pressures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V: Residual Properties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Core Idea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Problem:</a:t>
                </a:r>
                <a:r>
                  <a:rPr/>
                  <a:t> We lack 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P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T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P</m:t>
                        </m:r>
                      </m:e>
                    </m:d>
                  </m:oMath>
                </a14:m>
                <a:r>
                  <a:rPr/>
                  <a:t> data for real gases → can’t integrate </a:t>
                </a:r>
                <a14:m>
                  <m:oMath xmlns:m="http://schemas.openxmlformats.org/officeDocument/2006/math">
                    <m:r>
                      <m:t>d</m:t>
                    </m:r>
                    <m:bar>
                      <m:barPr>
                        <m:pos m:val="bot"/>
                      </m:barPr>
                      <m:e>
                        <m:r>
                          <m:t>H</m:t>
                        </m:r>
                      </m:e>
                    </m:ba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d</m:t>
                    </m:r>
                    <m:bar>
                      <m:barPr>
                        <m:pos m:val="bot"/>
                      </m:barPr>
                      <m:e>
                        <m:r>
                          <m:t>S</m:t>
                        </m:r>
                      </m:e>
                    </m:bar>
                  </m:oMath>
                </a14:m>
                <a:r>
                  <a:rPr/>
                  <a:t> directly.</a:t>
                </a:r>
              </a:p>
              <a:p>
                <a:pPr lvl="0" indent="0" marL="0">
                  <a:buNone/>
                </a:pPr>
                <a:r>
                  <a:rPr b="1"/>
                  <a:t>Solution:</a:t>
                </a:r>
                <a:r>
                  <a:rPr/>
                  <a:t> Define the </a:t>
                </a:r>
                <a:r>
                  <a:rPr b="1"/>
                  <a:t>residual property</a:t>
                </a:r>
                <a:r>
                  <a:rPr/>
                  <a:t> as the difference between real fluid and ideal gas at the same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T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P</m:t>
                        </m:r>
                      </m:e>
                    </m:d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bar>
                            <m:barPr>
                              <m:pos m:val="bot"/>
                            </m:barPr>
                            <m:e>
                              <m:r>
                                <m:t>M</m:t>
                              </m:r>
                            </m:e>
                          </m:bar>
                        </m:e>
                        <m:sup>
                          <m:r>
                            <m:t>R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P</m:t>
                          </m:r>
                        </m:e>
                      </m:d>
                      <m:r>
                        <m:rPr>
                          <m:sty m:val="p"/>
                        </m:rPr>
                        <m:t>≡</m:t>
                      </m:r>
                      <m:bar>
                        <m:barPr>
                          <m:pos m:val="bot"/>
                        </m:barPr>
                        <m:e>
                          <m:r>
                            <m:t>M</m:t>
                          </m:r>
                        </m:e>
                      </m:ba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P</m:t>
                          </m:r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sSup>
                        <m:e>
                          <m:bar>
                            <m:barPr>
                              <m:pos m:val="bot"/>
                            </m:barPr>
                            <m:e>
                              <m:r>
                                <m:t>M</m:t>
                              </m:r>
                            </m:e>
                          </m:bar>
                        </m:e>
                        <m:sup>
                          <m:r>
                            <m:t>i</m:t>
                          </m:r>
                          <m:r>
                            <m:t>g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P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Split any property change into an ideal-gas part (easy) + a residual correction (from EOS):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Δ</m:t>
                      </m:r>
                      <m:bar>
                        <m:barPr>
                          <m:pos m:val="bot"/>
                        </m:barPr>
                        <m:e>
                          <m:r>
                            <m:t>H</m:t>
                          </m:r>
                        </m:e>
                      </m:bar>
                      <m:r>
                        <m:rPr>
                          <m:sty m:val="p"/>
                        </m:rPr>
                        <m:t>=</m:t>
                      </m:r>
                      <m:r>
                        <m:t>Δ</m:t>
                      </m:r>
                      <m:sSup>
                        <m:e>
                          <m:bar>
                            <m:barPr>
                              <m:pos m:val="bot"/>
                            </m:barPr>
                            <m:e>
                              <m:r>
                                <m:t>H</m:t>
                              </m:r>
                            </m:e>
                          </m:bar>
                        </m:e>
                        <m:sup>
                          <m:r>
                            <m:t>i</m:t>
                          </m:r>
                          <m:r>
                            <m:t>g</m:t>
                          </m:r>
                        </m:sup>
                      </m:sSup>
                      <m:r>
                        <m:rPr>
                          <m:sty m:val="p"/>
                        </m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Sup>
                            <m:e>
                              <m:bar>
                                <m:barPr>
                                  <m:pos m:val="bot"/>
                                </m:barPr>
                                <m:e>
                                  <m:r>
                                    <m:t>H</m:t>
                                  </m:r>
                                </m:e>
                              </m:bar>
                            </m:e>
                            <m:sub>
                              <m:r>
                                <m:t>2</m:t>
                              </m:r>
                            </m:sub>
                            <m:sup>
                              <m:r>
                                <m:t>R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m:t>−</m:t>
                          </m:r>
                          <m:sSubSup>
                            <m:e>
                              <m:bar>
                                <m:barPr>
                                  <m:pos m:val="bot"/>
                                </m:barPr>
                                <m:e>
                                  <m:r>
                                    <m:t>H</m:t>
                                  </m:r>
                                </m:e>
                              </m:bar>
                            </m:e>
                            <m:sub>
                              <m:r>
                                <m:t>1</m:t>
                              </m:r>
                            </m:sub>
                            <m:sup>
                              <m:r>
                                <m:t>R</m:t>
                              </m:r>
                            </m:sup>
                          </m:sSubSup>
                        </m:e>
                      </m:d>
                      <m:r>
                        <m:t>  </m:t>
                      </m:r>
                      <m:r>
                        <m:t>Δ</m:t>
                      </m:r>
                      <m:bar>
                        <m:barPr>
                          <m:pos m:val="bot"/>
                        </m:barPr>
                        <m:e>
                          <m:r>
                            <m:t>S</m:t>
                          </m:r>
                        </m:e>
                      </m:bar>
                      <m:r>
                        <m:rPr>
                          <m:sty m:val="p"/>
                        </m:rPr>
                        <m:t>=</m:t>
                      </m:r>
                      <m:r>
                        <m:t>Δ</m:t>
                      </m:r>
                      <m:sSup>
                        <m:e>
                          <m:bar>
                            <m:barPr>
                              <m:pos m:val="bot"/>
                            </m:barPr>
                            <m:e>
                              <m:r>
                                <m:t>S</m:t>
                              </m:r>
                            </m:e>
                          </m:bar>
                        </m:e>
                        <m:sup>
                          <m:r>
                            <m:t>i</m:t>
                          </m:r>
                          <m:r>
                            <m:t>g</m:t>
                          </m:r>
                        </m:sup>
                      </m:sSup>
                      <m:r>
                        <m:rPr>
                          <m:sty m:val="p"/>
                        </m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Sup>
                            <m:e>
                              <m:bar>
                                <m:barPr>
                                  <m:pos m:val="bot"/>
                                </m:barPr>
                                <m:e>
                                  <m:r>
                                    <m:t>S</m:t>
                                  </m:r>
                                </m:e>
                              </m:bar>
                            </m:e>
                            <m:sub>
                              <m:r>
                                <m:t>2</m:t>
                              </m:r>
                            </m:sub>
                            <m:sup>
                              <m:r>
                                <m:t>R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m:t>−</m:t>
                          </m:r>
                          <m:sSubSup>
                            <m:e>
                              <m:bar>
                                <m:barPr>
                                  <m:pos m:val="bot"/>
                                </m:barPr>
                                <m:e>
                                  <m:r>
                                    <m:t>S</m:t>
                                  </m:r>
                                </m:e>
                              </m:bar>
                            </m:e>
                            <m:sub>
                              <m:r>
                                <m:t>1</m:t>
                              </m:r>
                            </m:sub>
                            <m:sup>
                              <m:r>
                                <m:t>R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Computing Residual 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General integral formulas derived from the property equations: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bar>
                            <m:barPr>
                              <m:pos m:val="bot"/>
                            </m:barPr>
                            <m:e>
                              <m:r>
                                <m:t>H</m:t>
                              </m:r>
                            </m:e>
                          </m:bar>
                        </m:e>
                        <m:sup>
                          <m:r>
                            <m:t>R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0</m:t>
                          </m:r>
                        </m:sub>
                        <m:sup>
                          <m:r>
                            <m:t>P</m:t>
                          </m:r>
                        </m: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bar>
                                <m:barPr>
                                  <m:pos m:val="bot"/>
                                </m:barPr>
                                <m:e>
                                  <m:r>
                                    <m:t>V</m:t>
                                  </m:r>
                                </m:e>
                              </m:ba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T</m:t>
                              </m:r>
                              <m:r>
                                <m:t>​</m:t>
                              </m:r>
                              <m:sSub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m:t>∂</m:t>
                                          </m:r>
                                          <m:bar>
                                            <m:barPr>
                                              <m:pos m:val="bot"/>
                                            </m:barPr>
                                            <m:e>
                                              <m:r>
                                                <m:t>V</m:t>
                                              </m:r>
                                            </m:e>
                                          </m:bar>
                                        </m:num>
                                        <m:den>
                                          <m:r>
                                            <m:rPr>
                                              <m:sty m:val="p"/>
                                            </m:rPr>
                                            <m:t>∂</m:t>
                                          </m:r>
                                          <m:r>
                                            <m:t>T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m:t>​</m:t>
                                  </m:r>
                                  <m:r>
                                    <m:t>P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t>d</m:t>
                      </m:r>
                      <m:r>
                        <m:t>P</m:t>
                      </m:r>
                      <m:r>
                        <m:t>  </m:t>
                      </m:r>
                      <m:sSup>
                        <m:e>
                          <m:bar>
                            <m:barPr>
                              <m:pos m:val="bot"/>
                            </m:barPr>
                            <m:e>
                              <m:r>
                                <m:t>S</m:t>
                              </m:r>
                            </m:e>
                          </m:bar>
                        </m:e>
                        <m:sup>
                          <m:r>
                            <m:t>R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0</m:t>
                          </m:r>
                        </m:sub>
                        <m:sup>
                          <m:r>
                            <m:t>P</m:t>
                          </m:r>
                        </m: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sSub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m:t>∂</m:t>
                                          </m:r>
                                          <m:bar>
                                            <m:barPr>
                                              <m:pos m:val="bot"/>
                                            </m:barPr>
                                            <m:e>
                                              <m:r>
                                                <m:t>V</m:t>
                                              </m:r>
                                            </m:e>
                                          </m:bar>
                                        </m:num>
                                        <m:den>
                                          <m:r>
                                            <m:rPr>
                                              <m:sty m:val="p"/>
                                            </m:rPr>
                                            <m:t>∂</m:t>
                                          </m:r>
                                          <m:r>
                                            <m:t>T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m:t>​</m:t>
                                  </m:r>
                                  <m:r>
                                    <m:t>P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R</m:t>
                                  </m:r>
                                </m:num>
                                <m:den>
                                  <m:r>
                                    <m:t>P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m:t>d</m:t>
                      </m:r>
                      <m:r>
                        <m:t>P</m:t>
                      </m:r>
                    </m:oMath>
                  </m:oMathPara>
                </a14:m>
              </a:p>
              <a:p>
                <a:pPr lvl="0"/>
                <a:r>
                  <a:rPr/>
                  <a:t>Evaluated </a:t>
                </a:r>
                <a:r>
                  <a:rPr b="1"/>
                  <a:t>analytically</a:t>
                </a:r>
                <a:r>
                  <a:rPr/>
                  <a:t> for vdW, SRK, and PR EOS (Lecture 29).</a:t>
                </a:r>
              </a:p>
              <a:p>
                <a:pPr lvl="0"/>
                <a:r>
                  <a:rPr/>
                  <a:t>Can also be computed </a:t>
                </a:r>
                <a:r>
                  <a:rPr b="1"/>
                  <a:t>numerically</a:t>
                </a:r>
                <a:r>
                  <a:rPr/>
                  <a:t> for any fluid and any EOS.</a:t>
                </a:r>
              </a:p>
              <a:p>
                <a:pPr lvl="0" indent="0" marL="0">
                  <a:buNone/>
                </a:pPr>
                <a:r>
                  <a:rPr b="1"/>
                  <a:t>The residual framework in one sentence:</a:t>
                </a:r>
                <a:r>
                  <a:rPr/>
                  <a:t> Use </a:t>
                </a:r>
                <a:r>
                  <a:rPr b="1"/>
                  <a:t>ideal-gas </a:t>
                </a:r>
                <a14:m>
                  <m:oMath xmlns:m="http://schemas.openxmlformats.org/officeDocument/2006/math">
                    <m:sSubSup>
                      <m:e>
                        <m:r>
                          <m:t>C</m:t>
                        </m:r>
                      </m:e>
                      <m:sub>
                        <m:r>
                          <m:t>P</m:t>
                        </m:r>
                      </m:sub>
                      <m:sup>
                        <m:r>
                          <m:t>i</m:t>
                        </m:r>
                        <m:r>
                          <m:t>g</m:t>
                        </m:r>
                      </m:sup>
                    </m:sSubSup>
                  </m:oMath>
                </a14:m>
                <a:r>
                  <a:rPr b="1"/>
                  <a:t> data</a:t>
                </a:r>
                <a:r>
                  <a:rPr/>
                  <a:t> (tabulated for thousands of substances) + an </a:t>
                </a:r>
                <a:r>
                  <a:rPr b="1"/>
                  <a:t>EOS</a:t>
                </a:r>
                <a:r>
                  <a:rPr/>
                  <a:t> (needs only </a:t>
                </a:r>
                <a14:m>
                  <m:oMath xmlns:m="http://schemas.openxmlformats.org/officeDocument/2006/math">
                    <m:sSub>
                      <m:e>
                        <m:r>
                          <m:t>T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ω</m:t>
                    </m:r>
                  </m:oMath>
                </a14:m>
                <a:r>
                  <a:rPr/>
                  <a:t>) to compute </a:t>
                </a:r>
                <a14:m>
                  <m:oMath xmlns:m="http://schemas.openxmlformats.org/officeDocument/2006/math">
                    <m:r>
                      <m:t>Δ</m:t>
                    </m:r>
                    <m:r>
                      <m:t>H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Δ</m:t>
                    </m:r>
                    <m:r>
                      <m:t>S</m:t>
                    </m:r>
                  </m:oMath>
                </a14:m>
                <a:r>
                  <a:rPr/>
                  <a:t> for any real fluid, at any conditions, without additional experimental data.</a:t>
                </a:r>
              </a:p>
            </p:txBody>
          </p:sp>
        </mc:Choice>
      </mc:AlternateContent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VI: Phase Equilibrium and Fugacity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Chemical Potential as the Driver of Phase Change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Two phases </a:t>
                </a:r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coexist at equilibrium when: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T</m:t>
                          </m:r>
                        </m:e>
                        <m:sup>
                          <m:r>
                            <m:t>α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T</m:t>
                          </m:r>
                        </m:e>
                        <m:sup>
                          <m:r>
                            <m:t>β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p>
                        <m:e>
                          <m:r>
                            <m:t>P</m:t>
                          </m:r>
                        </m:e>
                        <m:sup>
                          <m:r>
                            <m:t>α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P</m:t>
                          </m:r>
                        </m:e>
                        <m:sup>
                          <m:r>
                            <m:t>β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p>
                        <m:e>
                          <m:bar>
                            <m:barPr>
                              <m:pos m:val="bot"/>
                            </m:barPr>
                            <m:e>
                              <m:r>
                                <m:t>G</m:t>
                              </m:r>
                            </m:e>
                          </m:bar>
                        </m:e>
                        <m:sup>
                          <m:r>
                            <m:t>α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bar>
                            <m:barPr>
                              <m:pos m:val="bot"/>
                            </m:barPr>
                            <m:e>
                              <m:r>
                                <m:t>G</m:t>
                              </m:r>
                            </m:e>
                          </m:bar>
                        </m:e>
                        <m:sup>
                          <m:r>
                            <m:t>β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Clapeyron equation</a:t>
                </a:r>
                <a:r>
                  <a:rPr/>
                  <a:t> — slope of the saturation curve in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–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space: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d</m:t>
                                  </m:r>
                                  <m:r>
                                    <m:t>P</m:t>
                                  </m:r>
                                </m:num>
                                <m:den>
                                  <m:r>
                                    <m:t>d</m:t>
                                  </m:r>
                                  <m:r>
                                    <m:t>T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t>​</m:t>
                          </m:r>
                          <m:r>
                            <m:t>s</m:t>
                          </m:r>
                          <m:r>
                            <m:t>a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Δ</m:t>
                              </m:r>
                            </m:e>
                            <m:sub>
                              <m:r>
                                <m:t>​</m:t>
                              </m:r>
                              <m:r>
                                <m:t>v</m:t>
                              </m:r>
                              <m:r>
                                <m:t>a</m:t>
                              </m:r>
                              <m:r>
                                <m:t>p</m:t>
                              </m:r>
                            </m:sub>
                          </m:sSub>
                          <m:bar>
                            <m:barPr>
                              <m:pos m:val="bot"/>
                            </m:barPr>
                            <m:e>
                              <m:r>
                                <m:t>H</m:t>
                              </m:r>
                            </m:e>
                          </m:bar>
                        </m:num>
                        <m:den>
                          <m:r>
                            <m:t>T</m:t>
                          </m:r>
                          <m:r>
                            <m:t> </m:t>
                          </m:r>
                          <m:sSub>
                            <m:e>
                              <m:r>
                                <m:t>Δ</m:t>
                              </m:r>
                            </m:e>
                            <m:sub>
                              <m:r>
                                <m:t>​</m:t>
                              </m:r>
                              <m:r>
                                <m:t>v</m:t>
                              </m:r>
                              <m:r>
                                <m:t>a</m:t>
                              </m:r>
                              <m:r>
                                <m:t>p</m:t>
                              </m:r>
                            </m:sub>
                          </m:sSub>
                          <m:bar>
                            <m:barPr>
                              <m:pos m:val="bot"/>
                            </m:barPr>
                            <m:e>
                              <m:r>
                                <m:t>V</m:t>
                              </m:r>
                            </m:e>
                          </m:ba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Antoine equation</a:t>
                </a:r>
                <a:r>
                  <a:rPr/>
                  <a:t> (empirical, from Clausius-Clapeyron approximation):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m:t>log</m:t>
                          </m:r>
                        </m:e>
                        <m:sub>
                          <m:r>
                            <m:t>10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r>
                                <m:t>P</m:t>
                              </m:r>
                            </m:e>
                            <m:sup>
                              <m:r>
                                <m:t>s</m:t>
                              </m:r>
                              <m:r>
                                <m:t>a</m:t>
                              </m:r>
                              <m:r>
                                <m:t>t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B</m:t>
                          </m:r>
                        </m:num>
                        <m:den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C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Invention of Fugacity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Problem with </a:t>
                </a:r>
                <a14:m>
                  <m:oMath xmlns:m="http://schemas.openxmlformats.org/officeDocument/2006/math">
                    <m:bar>
                      <m:barPr>
                        <m:pos m:val="bot"/>
                      </m:barPr>
                      <m:e>
                        <m:r>
                          <m:t>G</m:t>
                        </m:r>
                      </m:e>
                    </m:bar>
                  </m:oMath>
                </a14:m>
                <a:r>
                  <a:rPr b="1"/>
                  <a:t>:</a:t>
                </a:r>
                <a:r>
                  <a:rPr/>
                  <a:t> As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0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bar>
                      <m:barPr>
                        <m:pos m:val="bot"/>
                      </m:barPr>
                      <m:e>
                        <m:r>
                          <m:t>G</m:t>
                        </m:r>
                      </m:e>
                    </m:bar>
                    <m:r>
                      <m:rPr>
                        <m:sty m:val="p"/>
                      </m:rPr>
                      <m:t>→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∞</m:t>
                    </m:r>
                  </m:oMath>
                </a14:m>
                <a:r>
                  <a:rPr/>
                  <a:t> due to the </a:t>
                </a:r>
                <a14:m>
                  <m:oMath xmlns:m="http://schemas.openxmlformats.org/officeDocument/2006/math"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ln</m:t>
                    </m:r>
                    <m:r>
                      <m:t>P</m:t>
                    </m:r>
                  </m:oMath>
                </a14:m>
                <a:r>
                  <a:rPr/>
                  <a:t> term — inconvenient for calculations.</a:t>
                </a:r>
              </a:p>
              <a:p>
                <a:pPr lvl="0" indent="0" marL="0">
                  <a:buNone/>
                </a:pPr>
                <a:r>
                  <a:rPr b="1"/>
                  <a:t>Solution (G.N. Lewis, 1901):</a:t>
                </a:r>
                <a:r>
                  <a:rPr/>
                  <a:t> Define </a:t>
                </a:r>
                <a:r>
                  <a:rPr b="1"/>
                  <a:t>fugacity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 so the logarithmic form holds, with </a:t>
                </a:r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P</m:t>
                    </m:r>
                  </m:oMath>
                </a14:m>
                <a:r>
                  <a:rPr/>
                  <a:t> as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0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bar>
                            <m:barPr>
                              <m:pos m:val="bot"/>
                            </m:barPr>
                            <m:e>
                              <m:r>
                                <m:t>G</m:t>
                              </m:r>
                            </m:e>
                          </m:bar>
                        </m:e>
                        <m:sup>
                          <m:r>
                            <m:t>R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P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R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t>ϕ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R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f</m:t>
                              </m:r>
                            </m:num>
                            <m:den>
                              <m:r>
                                <m:t>P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ϕ</m:t>
                      </m:r>
                      <m:r>
                        <m:t>P</m:t>
                      </m:r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r>
                      <m:t>ϕ</m:t>
                    </m:r>
                  </m:oMath>
                </a14:m>
                <a:r>
                  <a:rPr/>
                  <a:t> = </a:t>
                </a:r>
                <a:r>
                  <a:rPr b="1"/>
                  <a:t>fugacity coefficient</a:t>
                </a:r>
                <a:r>
                  <a:rPr/>
                  <a:t>. For ideal gas: </a:t>
                </a:r>
                <a14:m>
                  <m:oMath xmlns:m="http://schemas.openxmlformats.org/officeDocument/2006/math">
                    <m:r>
                      <m:t>ϕ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=</m:t>
                    </m:r>
                    <m:r>
                      <m:t>P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Attractions dominate → </a:t>
                </a:r>
                <a14:m>
                  <m:oMath xmlns:m="http://schemas.openxmlformats.org/officeDocument/2006/math">
                    <m:r>
                      <m:t>ϕ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1</m:t>
                    </m:r>
                  </m:oMath>
                </a14:m>
                <a:r>
                  <a:rPr/>
                  <a:t>. Repulsions dominate → </a:t>
                </a:r>
                <a14:m>
                  <m:oMath xmlns:m="http://schemas.openxmlformats.org/officeDocument/2006/math">
                    <m:r>
                      <m:t>ϕ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1</m:t>
                    </m:r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 b="1"/>
                  <a:t>Phase equilibrium condition: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p>
                            <m:e>
                              <m:r>
                                <m:t>f</m:t>
                              </m:r>
                            </m:e>
                            <m:sup>
                              <m:r>
                                <m:t>α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=</m:t>
                          </m:r>
                          <m:sSup>
                            <m:e>
                              <m:r>
                                <m:t>f</m:t>
                              </m:r>
                            </m:e>
                            <m:sup>
                              <m:r>
                                <m:t>β</m:t>
                              </m:r>
                            </m:sup>
                          </m:sSup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Finite, has units of pressure, computable from any EOS.</a:t>
                </a:r>
              </a:p>
            </p:txBody>
          </p:sp>
        </mc:Choice>
      </mc:AlternateContent>
    </p:spTree>
  </p:cSld>
</p:sld>
</file>

<file path=ppt/slides/slide3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Computing Fugacity from an EOS</a:t></a:r></a:p></p:txBody></p:sp><mc:AlternateContent xmlns:mc="http://schemas.openxmlformats.org/markup-compatibility/2006"><mc:Choice xmlns:a14="http://schemas.microsoft.com/office/drawing/2010/main" Requires="a14"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From </a:t></a:r><a14:m><m:oMath xmlns:m="http://schemas.openxmlformats.org/officeDocument/2006/math"><m:sSup><m:e><m:bar><m:barPr><m:pos m:val="bot" /></m:barPr><m:e><m:r><m:t>G</m:t></m:r></m:e></m:bar></m:e><m:sup><m:r><m:t>R</m:t></m:r></m:sup></m:sSup><m:r><m:rPr><m:sty m:val="p" /></m:rPr><m:t>=</m:t></m:r><m:r><m:t>R</m:t></m:r><m:r><m:t>T</m:t></m:r><m:r><m:rPr><m:sty m:val="p" /></m:rPr><m:t>ln</m:t></m:r><m:r><m:t>ϕ</m:t></m:r></m:oMath></a14:m><a:r><a:rPr /><a:t> and the property relations:</a:t></a:r></a:p><a:p><a:pPr lvl="0" indent="0" marL="0"><a:buNone /></a:pPr><a14:m><m:oMathPara xmlns:m="http://schemas.openxmlformats.org/officeDocument/2006/math"><m:oMathParaPr><m:jc m:val="center" /></m:oMathParaPr><m:oMath><m:r><m:rPr><m:sty m:val="p" /></m:rPr><m:t>ln</m:t></m:r><m:r><m:t>ϕ</m:t></m:r><m:r><m:rPr><m:sty m:val="p" /></m:rPr><m:t>=</m:t></m:r><m:nary><m:naryPr><m:chr m:val="∫" /><m:limLoc m:val="subSup" /><m:subHide m:val="off" /><m:supHide m:val="off" /></m:naryPr><m:sub><m:r><m:t>0</m:t></m:r></m:sub><m:sup><m:r><m:t>P</m:t></m:r></m:sup><m:e><m:f><m:fPr><m:type m:val="bar" /></m:fPr><m:num><m:r><m:t>Z</m:t></m:r><m:r><m:rPr><m:sty m:val="p" /></m:rPr><m:t>−</m:t></m:r><m:r><m:t>1</m:t></m:r></m:num><m:den><m:r><m:t>P</m:t></m:r></m:den></m:f></m:e></m:nary><m:r><m:t> </m:t></m:r><m:r><m:t>d</m:t></m:r><m:r><m:t>P</m:t></m:r></m:oMath></m:oMathPara></a14:m></a:p><a:p><a:pPr lvl="0" indent="0" marL="0"><a:buNone /></a:pPr><a:r><a:rPr /><a:t>Evaluated analytically for cubic EOS (with </a:t></a:r><a14:m><m:oMath xmlns:m="http://schemas.openxmlformats.org/officeDocument/2006/math"><m:r><m:t>A</m:t></m:r><m:r><m:rPr><m:sty m:val="p" /></m:rPr><m:t>≡</m:t></m:r><m:r><m:t>a</m:t></m:r><m:r><m:t>P</m:t></m:r><m:r><m:rPr><m:sty m:val="p" /></m:rPr><m:t>/</m:t></m:r><m:sSup><m:e><m:d><m:dPr><m:begChr m:val="(" /><m:sepChr m:val="" /><m:endChr m:val=")" /><m:grow /></m:dPr><m:e><m:r><m:t>R</m:t></m:r><m:r><m:t>T</m:t></m:r></m:e></m:d></m:e><m:sup><m:r><m:t>2</m:t></m:r></m:sup></m:sSup></m:oMath></a14:m><a:r><a:rPr /><a:t>, </a:t></a:r><a14:m><m:oMath xmlns:m="http://schemas.openxmlformats.org/officeDocument/2006/math"><m:r><m:t>B</m:t></m:r><m:r><m:rPr><m:sty m:val="p" /></m:rPr><m:t>≡</m:t></m:r><m:r><m:t>b</m:t></m:r><m:r><m:t>P</m:t></m:r><m:r><m:rPr><m:sty m:val="p" /></m:rPr><m:t>/</m:t></m:r><m:r><m:t>R</m:t></m:r><m:r><m:t>T</m:t></m:r></m:oMath></a14:m><a:r><a:rPr /><a:t>):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701800" /><a:gridCol w="3403600" /></a:tblGrid><a:tr h="0"><a:tc><a:txBody><a:bodyPr /><a:lstStyle /><a:p><a:pPr lvl="0" indent="0" marL="0" algn="l"><a:buNone /></a:pPr><a:r><a:rPr /><a:t>EOS</a:t></a:r></a:p></a:txBody><a:tcPr /></a:tc><a:tc><a:txBody><a:bodyPr /><a:lstStyle /><a:p><a:pPr lvl="0" indent="0" marL="0" algn="l"><a:buNone /></a:pPr><a14:m><m:oMath xmlns:m="http://schemas.openxmlformats.org/officeDocument/2006/math"><m:r><m:rPr><m:sty m:val="p" /></m:rPr><m:t>ln</m:t></m:r><m:r><m:t>ϕ</m:t></m:r></m:oMath></a14:m></a:p></a:txBody><a:tcPr /></a:tc></a:tr><a:tr h="0"><a:tc><a:txBody><a:bodyPr /><a:lstStyle /><a:p><a:pPr lvl="0" indent="0" marL="0" algn="l"><a:buNone /></a:pPr><a:r><a:rPr /><a:t>vdW</a:t></a:r></a:p></a:txBody></a:tc><a:tc><a:txBody><a:bodyPr /><a:lstStyle /><a:p><a:pPr lvl="0" indent="0" marL="0" algn="l"><a:buNone /></a:pPr><a14:m><m:oMath xmlns:m="http://schemas.openxmlformats.org/officeDocument/2006/math"><m:d><m:dPr><m:begChr m:val="(" /><m:sepChr m:val="" /><m:endChr m:val=")" /><m:grow /></m:dPr><m:e><m:r><m:t>Z</m:t></m:r><m:r><m:rPr><m:sty m:val="p" /></m:rPr><m:t>−</m:t></m:r><m:r><m:t>1</m:t></m:r></m:e></m:d><m:r><m:rPr><m:sty m:val="p" /></m:rPr><m:t>−</m:t></m:r><m:r><m:rPr><m:sty m:val="p" /></m:rPr><m:t>ln</m:t></m:r><m:d><m:dPr><m:begChr m:val="(" /><m:sepChr m:val="" /><m:endChr m:val=")" /><m:grow /></m:dPr><m:e><m:r><m:t>Z</m:t></m:r><m:r><m:rPr><m:sty m:val="p" /></m:rPr><m:t>−</m:t></m:r><m:r><m:t>B</m:t></m:r></m:e></m:d><m:r><m:rPr><m:sty m:val="p" /></m:rPr><m:t>−</m:t></m:r><m:r><m:t>A</m:t></m:r><m:r><m:rPr><m:sty m:val="p" /></m:rPr><m:t>/</m:t></m:r><m:r><m:t>Z</m:t></m:r></m:oMath></a14:m></a:p></a:txBody></a:tc></a:tr><a:tr h="0"><a:tc><a:txBody><a:bodyPr /><a:lstStyle /><a:p><a:pPr lvl="0" indent="0" marL="0" algn="l"><a:buNone /></a:pPr><a:r><a:rPr /><a:t>SRK</a:t></a:r></a:p></a:txBody></a:tc><a:tc><a:txBody><a:bodyPr /><a:lstStyle /><a:p><a:pPr lvl="0" indent="0" marL="0" algn="l"><a:buNone /></a:pPr><a14:m><m:oMath xmlns:m="http://schemas.openxmlformats.org/officeDocument/2006/math"><m:d><m:dPr><m:begChr m:val="(" /><m:sepChr m:val="" /><m:endChr m:val=")" /><m:grow /></m:dPr><m:e><m:r><m:t>Z</m:t></m:r><m:r><m:rPr><m:sty m:val="p" /></m:rPr><m:t>−</m:t></m:r><m:r><m:t>1</m:t></m:r></m:e></m:d><m:r><m:rPr><m:sty m:val="p" /></m:rPr><m:t>−</m:t></m:r><m:r><m:rPr><m:sty m:val="p" /></m:rPr><m:t>ln</m:t></m:r><m:d><m:dPr><m:begChr m:val="(" /><m:sepChr m:val="" /><m:endChr m:val=")" /><m:grow /></m:dPr><m:e><m:r><m:t>Z</m:t></m:r><m:r><m:rPr><m:sty m:val="p" /></m:rPr><m:t>−</m:t></m:r><m:r><m:t>B</m:t></m:r></m:e></m:d><m:r><m:rPr><m:sty m:val="p" /></m:rPr><m:t>−</m:t></m:r><m:f><m:fPr><m:type m:val="bar" /></m:fPr><m:num><m:r><m:t>A</m:t></m:r></m:num><m:den><m:r><m:t>B</m:t></m:r></m:den></m:f><m:r><m:rPr><m:sty m:val="p" /></m:rPr><m:t>ln</m:t></m:r><m:r><m:t>​</m:t></m:r><m:d><m:dPr><m:begChr m:val="(" /><m:sepChr m:val="" /><m:endChr m:val=")" /><m:grow /></m:dPr><m:e><m:r><m:t>1</m:t></m:r><m:r><m:rPr><m:sty m:val="p" /></m:rPr><m:t>+</m:t></m:r><m:f><m:fPr><m:type m:val="bar" /></m:fPr><m:num><m:r><m:t>B</m:t></m:r></m:num><m:den><m:r><m:t>Z</m:t></m:r></m:den></m:f></m:e></m:d></m:oMath></a14:m></a:p></a:txBody></a:tc></a:tr><a:tr h="0"><a:tc><a:txBody><a:bodyPr /><a:lstStyle /><a:p><a:pPr lvl="0" indent="0" marL="0" algn="l"><a:buNone /></a:pPr><a:r><a:rPr /><a:t>PR</a:t></a:r></a:p></a:txBody></a:tc><a:tc><a:txBody><a:bodyPr /><a:lstStyle /><a:p><a:pPr lvl="0" indent="0" marL="0" algn="l"><a:buNone /></a:pPr><a14:m><m:oMath xmlns:m="http://schemas.openxmlformats.org/officeDocument/2006/math"><m:d><m:dPr><m:begChr m:val="(" /><m:sepChr m:val="" /><m:endChr m:val=")" /><m:grow /></m:dPr><m:e><m:r><m:t>Z</m:t></m:r><m:r><m:rPr><m:sty m:val="p" /></m:rPr><m:t>−</m:t></m:r><m:r><m:t>1</m:t></m:r></m:e></m:d><m:r><m:rPr><m:sty m:val="p" /></m:rPr><m:t>−</m:t></m:r><m:r><m:rPr><m:sty m:val="p" /></m:rPr><m:t>ln</m:t></m:r><m:d><m:dPr><m:begChr m:val="(" /><m:sepChr m:val="" /><m:endChr m:val=")" /><m:grow /></m:dPr><m:e><m:r><m:t>Z</m:t></m:r><m:r><m:rPr><m:sty m:val="p" /></m:rPr><m:t>−</m:t></m:r><m:r><m:t>B</m:t></m:r></m:e></m:d><m:r><m:rPr><m:sty m:val="p" /></m:rPr><m:t>−</m:t></m:r><m:f><m:fPr><m:type m:val="bar" /></m:fPr><m:num><m:r><m:t>A</m:t></m:r></m:num><m:den><m:r><m:t>2</m:t></m:r><m:rad><m:radPr><m:degHide m:val="on" /></m:radPr><m:deg /><m:e><m:r><m:t>2</m:t></m:r></m:e></m:rad><m:r><m:t>B</m:t></m:r></m:den></m:f><m:r><m:rPr><m:sty m:val="p" /></m:rPr><m:t>ln</m:t></m:r><m:r><m:t>​</m:t></m:r><m:d><m:dPr><m:begChr m:val="(" /><m:sepChr m:val="" /><m:endChr m:val=")" /><m:grow /></m:dPr><m:e><m:f><m:fPr><m:type m:val="bar" /></m:fPr><m:num><m:r><m:t>Z</m:t></m:r><m:r><m:rPr><m:sty m:val="p" /></m:rPr><m:t>+</m:t></m:r><m:d><m:dPr><m:begChr m:val="(" /><m:sepChr m:val="" /><m:endChr m:val=")" /><m:grow /></m:dPr><m:e><m:r><m:t>1</m:t></m:r><m:r><m:rPr><m:sty m:val="p" /></m:rPr><m:t>+</m:t></m:r><m:rad><m:radPr><m:degHide m:val="on" /></m:radPr><m:deg /><m:e><m:r><m:t>2</m:t></m:r></m:e></m:rad></m:e></m:d><m:r><m:t>B</m:t></m:r></m:num><m:den><m:r><m:t>Z</m:t></m:r><m:r><m:rPr><m:sty m:val="p" /></m:rPr><m:t>+</m:t></m:r><m:d><m:dPr><m:begChr m:val="(" /><m:sepChr m:val="" /><m:endChr m:val=")" /><m:grow /></m:dPr><m:e><m:r><m:t>1</m:t></m:r><m:r><m:rPr><m:sty m:val="p" /></m:rPr><m:t>−</m:t></m:r><m:rad><m:radPr><m:degHide m:val="on" /></m:radPr><m:deg /><m:e><m:r><m:t>2</m:t></m:r></m:e></m:rad></m:e></m:d><m:r><m:t>B</m:t></m:r></m:den></m:f></m:e></m:d></m:oMath></a14:m></a:p></a:txBody></a:tc></a:tr></a:tbl></a:graphicData></a:graphic></p:graphicFrame></p:spTree></p:cSld>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Procedure: get </a:t>
                </a:r>
                <a14:m>
                  <m:oMath xmlns:m="http://schemas.openxmlformats.org/officeDocument/2006/math">
                    <m:sSub>
                      <m:e>
                        <m:r>
                          <m:t>T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ω</m:t>
                    </m:r>
                  </m:oMath>
                </a14:m>
                <a:r>
                  <a:rPr/>
                  <a:t> → compute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 → solve cubic for </a:t>
                </a:r>
                <a14:m>
                  <m:oMath xmlns:m="http://schemas.openxmlformats.org/officeDocument/2006/math">
                    <m:r>
                      <m:t>Z</m:t>
                    </m:r>
                  </m:oMath>
                </a14:m>
                <a:r>
                  <a:rPr/>
                  <a:t> → evaluate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ln</m:t>
                    </m:r>
                    <m:r>
                      <m:t>ϕ</m:t>
                    </m:r>
                  </m:oMath>
                </a14:m>
                <a:r>
                  <a:rPr/>
                  <a:t> → </a:t>
                </a:r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=</m:t>
                    </m:r>
                    <m:r>
                      <m:t>ϕ</m:t>
                    </m:r>
                    <m:r>
                      <m:t>P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3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Phase Stability: Selecting the Right Root</a:t></a:r></a:p></p:txBody></p:sp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Inside the two-phase dome, the cubic EOS yields three real roots. The </a:t></a:r><a:r><a:rPr b="1" /><a:t>thermodynamically stable phase</a:t></a:r><a:r><a:rPr /><a:t> has </a:t></a:r><a:r><a:rPr b="1" /><a:t>lower fugacity</a:t></a:r><a:r><a:rPr /><a:t> (lower Gibbs energy):</a:t></a:r></a:p></p:txBody></p:sp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2552700" /><a:gridCol w="2552700" /></a:tblGrid><a:tr h="0"><a:tc><a:txBody><a:bodyPr /><a:lstStyle /><a:p><a:pPr lvl="0" indent="0" marL="0" algn="l"><a:buNone /></a:pPr><a:r><a:rPr /><a:t>Comparison</a:t></a:r></a:p></a:txBody><a:tcPr /></a:tc><a:tc><a:txBody><a:bodyPr /><a:lstStyle /><a:p><a:pPr lvl="0" indent="0" marL="0" algn="l"><a:buNone /></a:pPr><a:r><a:rPr /><a:t>Physical meaning</a:t></a:r></a:p></a:txBody><a:tcPr /></a:tc></a:tr><a:tr h="0"><a:tc><a:txBody><a:bodyPr /><a:lstStyle /><a:p><a:pPr lvl="0" indent="0" marL="0" algn="l"><a:buNone /></a:pPr><a14:m><m:oMath xmlns:m="http://schemas.openxmlformats.org/officeDocument/2006/math"><m:sSup><m:e><m:r><m:t>f</m:t></m:r></m:e><m:sup><m:r><m:t>V</m:t></m:r></m:sup></m:sSup><m:r><m:rPr><m:sty m:val="p" /></m:rPr><m:t>&lt;</m:t></m:r><m:sSup><m:e><m:r><m:t>f</m:t></m:r></m:e><m:sup><m:r><m:t>L</m:t></m:r></m:sup></m:sSup></m:oMath></a14:m></a:p></a:txBody></a:tc><a:tc><a:txBody><a:bodyPr /><a:lstStyle /><a:p><a:pPr lvl="0" indent="0" marL="0" algn="l"><a:buNone /></a:pPr><a:r><a:rPr /><a:t>Superheated vapor: vapor is stable</a:t></a:r></a:p></a:txBody></a:tc></a:tr><a:tr h="0"><a:tc><a:txBody><a:bodyPr /><a:lstStyle /><a:p><a:pPr lvl="0" indent="0" marL="0" algn="l"><a:buNone /></a:pPr><a14:m><m:oMath xmlns:m="http://schemas.openxmlformats.org/officeDocument/2006/math"><m:sSup><m:e><m:r><m:t>f</m:t></m:r></m:e><m:sup><m:r><m:t>L</m:t></m:r></m:sup></m:sSup><m:r><m:rPr><m:sty m:val="p" /></m:rPr><m:t>&lt;</m:t></m:r><m:sSup><m:e><m:r><m:t>f</m:t></m:r></m:e><m:sup><m:r><m:t>V</m:t></m:r></m:sup></m:sSup></m:oMath></a14:m></a:p></a:txBody></a:tc><a:tc><a:txBody><a:bodyPr /><a:lstStyle /><a:p><a:pPr lvl="0" indent="0" marL="0" algn="l"><a:buNone /></a:pPr><a:r><a:rPr /><a:t>Subcooled liquid: liquid is stable</a:t></a:r></a:p></a:txBody></a:tc></a:tr><a:tr h="0"><a:tc><a:txBody><a:bodyPr /><a:lstStyle /><a:p><a:pPr lvl="0" indent="0" marL="0" algn="l"><a:buNone /></a:pPr><a14:m><m:oMath xmlns:m="http://schemas.openxmlformats.org/officeDocument/2006/math"><m:sSup><m:e><m:r><m:t>f</m:t></m:r></m:e><m:sup><m:r><m:t>V</m:t></m:r></m:sup></m:sSup><m:r><m:rPr><m:sty m:val="p" /></m:rPr><m:t>=</m:t></m:r><m:sSup><m:e><m:r><m:t>f</m:t></m:r></m:e><m:sup><m:r><m:t>L</m:t></m:r></m:sup></m:sSup></m:oMath></a14:m></a:p></a:txBody></a:tc><a:tc><a:txBody><a:bodyPr /><a:lstStyle /><a:p><a:pPr lvl="0" indent="0" marL="0" algn="l"><a:buNone /></a:pPr><a:r><a:rPr /><a:t>VLE: the two phases coexist</a:t></a:r></a:p></a:txBody></a:tc></a:tr></a:tbl></a:graphicData></a:graphic></p:graphicFrame></p:spTree></p:cSld>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Basis for iterative algorithms to find </a:t>
                </a:r>
                <a14:m>
                  <m:oMath xmlns:m="http://schemas.openxmlformats.org/officeDocument/2006/math">
                    <m:sSup>
                      <m:e>
                        <m:r>
                          <m:t>P</m:t>
                        </m:r>
                      </m:e>
                      <m:sup>
                        <m:r>
                          <m:t>s</m:t>
                        </m:r>
                        <m:r>
                          <m:t>a</m:t>
                        </m:r>
                        <m:r>
                          <m:t>t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T</m:t>
                        </m:r>
                      </m:e>
                    </m:d>
                  </m:oMath>
                </a14:m>
                <a:r>
                  <a:rPr/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t>s</m:t>
                        </m:r>
                        <m:r>
                          <m:t>a</m:t>
                        </m:r>
                        <m:r>
                          <m:t>t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P</m:t>
                        </m:r>
                      </m:e>
                    </m:d>
                  </m:oMath>
                </a14:m>
                <a:r>
                  <a:rPr/>
                  <a:t> directly from an EOS.</a:t>
                </a:r>
              </a:p>
              <a:p>
                <a:pPr lvl="0"/>
                <a:r>
                  <a:rPr/>
                  <a:t>Guess → solve cubic → compute both fugacities → iterate until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t>V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f</m:t>
                        </m:r>
                      </m:e>
                      <m:sup>
                        <m:r>
                          <m:t>L</m:t>
                        </m:r>
                      </m:sup>
                    </m:sSup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VII: Compressed Liquids &amp; the Poynting Correction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Fugacity of a Compressed Liquid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a </a:t>
                </a:r>
                <a:r>
                  <a:rPr b="1"/>
                  <a:t>compressed liquid</a:t>
                </a:r>
                <a:r>
                  <a:rPr/>
                  <a:t> at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&gt;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s</m:t>
                        </m:r>
                        <m:r>
                          <m:t>a</m:t>
                        </m:r>
                        <m:r>
                          <m:t>t</m:t>
                        </m:r>
                      </m:sup>
                    </m:sSup>
                  </m:oMath>
                </a14:m>
                <a:r>
                  <a:rPr/>
                  <a:t>, trace a three-leg path: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Leg 1:</a:t>
                </a:r>
                <a:r>
                  <a:rPr/>
                  <a:t> Vapor isotherm from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0</m:t>
                    </m:r>
                  </m:oMath>
                </a14:m>
                <a:r>
                  <a:rPr/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m:t>P</m:t>
                        </m:r>
                      </m:e>
                      <m:sup>
                        <m:r>
                          <m:t>s</m:t>
                        </m:r>
                        <m:r>
                          <m:t>a</m:t>
                        </m:r>
                        <m:r>
                          <m:t>t</m:t>
                        </m:r>
                      </m:sup>
                    </m:sSup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Leg 2:</a:t>
                </a:r>
                <a:r>
                  <a:rPr/>
                  <a:t> Across two-phase region at </a:t>
                </a:r>
                <a14:m>
                  <m:oMath xmlns:m="http://schemas.openxmlformats.org/officeDocument/2006/math">
                    <m:sSup>
                      <m:e>
                        <m:r>
                          <m:t>P</m:t>
                        </m:r>
                      </m:e>
                      <m:sup>
                        <m:r>
                          <m:t>s</m:t>
                        </m:r>
                        <m:r>
                          <m:t>a</m:t>
                        </m:r>
                        <m:r>
                          <m:t>t</m:t>
                        </m:r>
                      </m:sup>
                    </m:sSup>
                  </m:oMath>
                </a14:m>
                <a:r>
                  <a:rPr/>
                  <a:t> (contributes zero: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t>P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t>V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f</m:t>
                        </m:r>
                      </m:e>
                      <m:sup>
                        <m:r>
                          <m:t>L</m:t>
                        </m:r>
                      </m:sup>
                    </m:sSup>
                  </m:oMath>
                </a14:m>
                <a:r>
                  <a:rPr/>
                  <a:t>)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Leg 3:</a:t>
                </a:r>
                <a:r>
                  <a:rPr/>
                  <a:t> Liquid isotherm from </a:t>
                </a:r>
                <a14:m>
                  <m:oMath xmlns:m="http://schemas.openxmlformats.org/officeDocument/2006/math">
                    <m:sSup>
                      <m:e>
                        <m:r>
                          <m:t>P</m:t>
                        </m:r>
                      </m:e>
                      <m:sup>
                        <m:r>
                          <m:t>s</m:t>
                        </m:r>
                        <m:r>
                          <m:t>a</m:t>
                        </m:r>
                        <m:r>
                          <m:t>t</m:t>
                        </m:r>
                      </m:sup>
                    </m:sSup>
                  </m:oMath>
                </a14:m>
                <a:r>
                  <a:rPr/>
                  <a:t> to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p>
                            <m:e>
                              <m:r>
                                <m:t>f</m:t>
                              </m:r>
                            </m:e>
                            <m:sup>
                              <m:r>
                                <m:t>L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P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sSubSup>
                            <m:e>
                              <m:r>
                                <m:t>ϕ</m:t>
                              </m:r>
                            </m:e>
                            <m:sub>
                              <m:r>
                                <m:t>s</m:t>
                              </m:r>
                              <m:r>
                                <m:t>a</m:t>
                              </m:r>
                              <m:r>
                                <m:t>t</m:t>
                              </m:r>
                            </m:sub>
                            <m:sup>
                              <m:r>
                                <m:t>V</m:t>
                              </m:r>
                            </m:sup>
                          </m:sSubSup>
                          <m:r>
                            <m:t> </m:t>
                          </m:r>
                          <m:sSup>
                            <m:e>
                              <m:r>
                                <m:t>P</m:t>
                              </m:r>
                            </m:e>
                            <m:sup>
                              <m:r>
                                <m:t>s</m:t>
                              </m:r>
                              <m:r>
                                <m:t>a</m:t>
                              </m:r>
                              <m:r>
                                <m:t>t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exp</m:t>
                          </m:r>
                          <m:r>
                            <m:t>​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1</m:t>
                                  </m:r>
                                </m:num>
                                <m:den>
                                  <m:r>
                                    <m:t>R</m:t>
                                  </m:r>
                                  <m:r>
                                    <m:t>T</m:t>
                                  </m:r>
                                </m:den>
                              </m:f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sSup>
                                    <m:e>
                                      <m:r>
                                        <m:t>P</m:t>
                                      </m:r>
                                    </m:e>
                                    <m:sup>
                                      <m:r>
                                        <m:t>s</m:t>
                                      </m:r>
                                      <m:r>
                                        <m:t>a</m:t>
                                      </m:r>
                                      <m:r>
                                        <m:t>t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m:t>P</m:t>
                                  </m:r>
                                </m:sup>
                                <m:e>
                                  <m:sSup>
                                    <m:e>
                                      <m:bar>
                                        <m:barPr>
                                          <m:pos m:val="bot"/>
                                        </m:barPr>
                                        <m:e>
                                          <m:r>
                                            <m:t>V</m:t>
                                          </m:r>
                                        </m:e>
                                      </m:bar>
                                    </m:e>
                                    <m:sup>
                                      <m:r>
                                        <m:t>L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m:t> </m:t>
                              </m:r>
                              <m:r>
                                <m:t>d</m:t>
                              </m:r>
                              <m:r>
                                <m:t>P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exponential is the </a:t>
                </a:r>
                <a:r>
                  <a:rPr b="1"/>
                  <a:t>Poynting correction</a:t>
                </a:r>
                <a:r>
                  <a:rPr/>
                  <a:t>. For an incompressible liquid: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PC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exp</m:t>
                      </m:r>
                      <m:r>
                        <m:t>​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sSup>
                                <m:e>
                                  <m:bar>
                                    <m:barPr>
                                      <m:pos m:val="bot"/>
                                    </m:barPr>
                                    <m:e>
                                      <m:r>
                                        <m:t>V</m:t>
                                      </m:r>
                                    </m:e>
                                  </m:bar>
                                </m:e>
                                <m:sup>
                                  <m:r>
                                    <m:t>L</m:t>
                                  </m:r>
                                </m:sup>
                              </m:s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P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sSup>
                                    <m:e>
                                      <m:r>
                                        <m:t>P</m:t>
                                      </m:r>
                                    </m:e>
                                    <m:sup>
                                      <m:r>
                                        <m:t>s</m:t>
                                      </m:r>
                                      <m:r>
                                        <m:t>a</m:t>
                                      </m:r>
                                      <m:r>
                                        <m:t>t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m:t>R</m:t>
                              </m:r>
                              <m:r>
                                <m:t>T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At moderate pressures: PC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  <m:r>
                      <m:t>1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m:t>ϕ</m:t>
                        </m:r>
                      </m:e>
                      <m:sub>
                        <m:r>
                          <m:t>s</m:t>
                        </m:r>
                        <m:r>
                          <m:t>a</m:t>
                        </m:r>
                        <m:r>
                          <m:t>t</m:t>
                        </m:r>
                      </m:sub>
                      <m:sup>
                        <m:r>
                          <m:t>V</m:t>
                        </m:r>
                      </m:sup>
                    </m:sSubSup>
                    <m:r>
                      <m:rPr>
                        <m:sty m:val="p"/>
                      </m:rPr>
                      <m:t>≈</m:t>
                    </m:r>
                    <m:r>
                      <m:t>1</m:t>
                    </m:r>
                  </m:oMath>
                </a14:m>
                <a:r>
                  <a:rPr/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t>L</m:t>
                        </m:r>
                      </m:sup>
                    </m:sSup>
                    <m:r>
                      <m:rPr>
                        <m:sty m:val="p"/>
                      </m:rPr>
                      <m:t>≈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s</m:t>
                        </m:r>
                        <m:r>
                          <m:t>a</m:t>
                        </m:r>
                        <m:r>
                          <m:t>t</m:t>
                        </m:r>
                      </m:sup>
                    </m:sSup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VIII: What You Can Now Do</a:t>
            </a:r>
          </a:p>
        </p:txBody>
      </p:sp>
    </p:spTree>
  </p:cSld>
</p:sld>
</file>

<file path=ppt/slides/slide41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Your New Capabilities</a:t></a:r></a:p></p:txBody></p:sp><mc:AlternateContent xmlns:mc="http://schemas.openxmlformats.org/markup-compatibility/2006"><mc:Choice xmlns:a14="http://schemas.microsoft.com/office/drawing/2010/main" Requires="a14"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You came in knowing that steam tables existed. You leave knowing how to </a:t></a:r><a:r><a:rPr b="1" /><a:t>build a steam table</a:t></a:r><a:r><a:rPr /><a:t> for any fluid, from scratch, using only </a:t></a:r><a14:m><m:oMath xmlns:m="http://schemas.openxmlformats.org/officeDocument/2006/math"><m:sSub><m:e><m:r><m:t>T</m:t></m:r></m:e><m:sub><m:r><m:t>c</m:t></m:r></m:sub></m:sSub></m:oMath></a14:m><a:r><a:rPr /><a:t>, </a:t></a:r><a14:m><m:oMath xmlns:m="http://schemas.openxmlformats.org/officeDocument/2006/math"><m:sSub><m:e><m:r><m:t>P</m:t></m:r></m:e><m:sub><m:r><m:t>c</m:t></m:r></m:sub></m:sSub></m:oMath></a14:m><a:r><a:rPr /><a:t>, and </a:t></a:r><a14:m><m:oMath xmlns:m="http://schemas.openxmlformats.org/officeDocument/2006/math"><m:r><m:t>ω</m:t></m:r></m:oMath></a14:m><a:r><a:rPr /><a:t>.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2273300" /><a:gridCol w="2832100" /></a:tblGrid><a:tr h="0"><a:tc><a:txBody><a:bodyPr /><a:lstStyle /><a:p><a:pPr lvl="0" indent="0" marL="0" algn="l"><a:buNone /></a:pPr><a:r><a:rPr /><a:t>Capability</a:t></a:r></a:p></a:txBody><a:tcPr /></a:tc><a:tc><a:txBody><a:bodyPr /><a:lstStyle /><a:p><a:pPr lvl="0" indent="0" marL="0" algn="l"><a:buNone /></a:pPr><a:r><a:rPr /><a:t>Framework used</a:t></a:r></a:p></a:txBody><a:tcPr /></a:tc></a:tr><a:tr h="0"><a:tc><a:txBody><a:bodyPr /><a:lstStyle /><a:p><a:pPr lvl="0" indent="0" marL="0" algn="l"><a:buNone /></a:pPr><a:r><a:rPr /><a:t>Compute </a:t></a:r><a14:m><m:oMath xmlns:m="http://schemas.openxmlformats.org/officeDocument/2006/math"><m:r><m:t>Δ</m:t></m:r><m:r><m:t>H</m:t></m:r></m:oMath></a14:m><a:r><a:rPr /><a:t> and </a:t></a:r><a14:m><m:oMath xmlns:m="http://schemas.openxmlformats.org/officeDocument/2006/math"><m:r><m:t>Δ</m:t></m:r><m:r><m:t>S</m:t></m:r></m:oMath></a14:m><a:r><a:rPr /><a:t> for real fluids</a:t></a:r></a:p></a:txBody></a:tc><a:tc><a:txBody><a:bodyPr /><a:lstStyle /><a:p><a:pPr lvl="0" indent="0" marL="0" algn="l"><a:buNone /></a:pPr><a:r><a:rPr /><a:t>Residual property framework + EOS</a:t></a:r></a:p></a:txBody></a:tc></a:tr><a:tr h="0"><a:tc><a:txBody><a:bodyPr /><a:lstStyle /><a:p><a:pPr lvl="0" indent="0" marL="0" algn="l"><a:buNone /></a:pPr><a:r><a:rPr /><a:t>Analyze power and refrigeration cycles</a:t></a:r></a:p></a:txBody></a:tc><a:tc><a:txBody><a:bodyPr /><a:lstStyle /><a:p><a:pPr lvl="0" indent="0" marL="0" algn="l"><a:buNone /></a:pPr><a:r><a:rPr /><a:t>1st Law + 2nd Law + EOS</a:t></a:r></a:p></a:txBody></a:tc></a:tr><a:tr h="0"><a:tc><a:txBody><a:bodyPr /><a:lstStyle /><a:p><a:pPr lvl="0" indent="0" marL="0" algn="l"><a:buNone /></a:pPr><a:r><a:rPr /><a:t>Predict phase behavior (</a:t></a:r><a14:m><m:oMath xmlns:m="http://schemas.openxmlformats.org/officeDocument/2006/math"><m:sSup><m:e><m:r><m:t>P</m:t></m:r></m:e><m:sup><m:r><m:t>s</m:t></m:r><m:r><m:t>a</m:t></m:r><m:r><m:t>t</m:t></m:r></m:sup></m:sSup></m:oMath></a14:m><a:r><a:rPr /><a:t>, </a:t></a:r><a14:m><m:oMath xmlns:m="http://schemas.openxmlformats.org/officeDocument/2006/math"><m:sSup><m:e><m:r><m:t>T</m:t></m:r></m:e><m:sup><m:r><m:t>s</m:t></m:r><m:r><m:t>a</m:t></m:r><m:r><m:t>t</m:t></m:r></m:sup></m:sSup></m:oMath></a14:m><a:r><a:rPr /><a:t>, molar volumes)</a:t></a:r></a:p></a:txBody></a:tc><a:tc><a:txBody><a:bodyPr /><a:lstStyle /><a:p><a:pPr lvl="0" indent="0" marL="0" algn="l"><a:buNone /></a:pPr><a:r><a:rPr /><a:t>Cubic EOS</a:t></a:r></a:p></a:txBody></a:tc></a:tr><a:tr h="0"><a:tc><a:txBody><a:bodyPr /><a:lstStyle /><a:p><a:pPr lvl="0" indent="0" marL="0" algn="l"><a:buNone /></a:pPr><a:r><a:rPr /><a:t>Compute fugacity; determine phase equilibrium</a:t></a:r></a:p></a:txBody></a:tc><a:tc><a:txBody><a:bodyPr /><a:lstStyle /><a:p><a:pPr lvl="0" indent="0" marL="0" algn="l"><a:buNone /></a:pPr><a14:m><m:oMath xmlns:m="http://schemas.openxmlformats.org/officeDocument/2006/math"><m:sSup><m:e><m:r><m:t>f</m:t></m:r></m:e><m:sup><m:r><m:t>α</m:t></m:r></m:sup></m:sSup><m:r><m:rPr><m:sty m:val="p" /></m:rPr><m:t>=</m:t></m:r><m:sSup><m:e><m:r><m:t>f</m:t></m:r></m:e><m:sup><m:r><m:t>β</m:t></m:r></m:sup></m:sSup></m:oMath></a14:m><a:r><a:rPr /><a:t> condition</a:t></a:r></a:p></a:txBody></a:tc></a:tr><a:tr h="0"><a:tc><a:txBody><a:bodyPr /><a:lstStyle /><a:p><a:pPr lvl="0" indent="0" marL="0" algn="l"><a:buNone /></a:pPr><a:r><a:rPr /><a:t>Connect molecular properties to macroscopic behavior</a:t></a:r></a:p></a:txBody></a:tc><a:tc><a:txBody><a:bodyPr /><a:lstStyle /><a:p><a:pPr lvl="0" indent="0" marL="0" algn="l"><a:buNone /></a:pPr><a:r><a:rPr /><a:t>Corresponding states, acentric factor</a:t></a:r></a:p></a:txBody></a:tc></a:tr></a:tbl></a:graphicData></a:graphic></p:graphicFrame></p:spTree></p:cSld>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IX: Where This Leads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Road Ahead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CBE 30370 — Phase Equilibria and Separations:</a:t>
                </a:r>
              </a:p>
              <a:p>
                <a:pPr lvl="0"/>
                <a:r>
                  <a:rPr/>
                  <a:t>Extend fugacity to </a:t>
                </a:r>
                <a:r>
                  <a:rPr b="1"/>
                  <a:t>mixtures</a:t>
                </a:r>
                <a:r>
                  <a:rPr/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m:t>f</m:t>
                        </m:r>
                      </m:e>
                      <m:sub>
                        <m:r>
                          <m:t>i</m:t>
                        </m:r>
                      </m:sub>
                      <m:sup>
                        <m:r>
                          <m:t>α</m:t>
                        </m:r>
                      </m:sup>
                    </m:sSubSup>
                    <m:r>
                      <m:rPr>
                        <m:sty m:val="p"/>
                      </m:rPr>
                      <m:t>=</m:t>
                    </m:r>
                    <m:sSubSup>
                      <m:e>
                        <m:r>
                          <m:t>f</m:t>
                        </m:r>
                      </m:e>
                      <m:sub>
                        <m:r>
                          <m:t>i</m:t>
                        </m:r>
                      </m:sub>
                      <m:sup>
                        <m:r>
                          <m:t>β</m:t>
                        </m:r>
                      </m:sup>
                    </m:sSubSup>
                  </m:oMath>
                </a14:m>
                <a:r>
                  <a:rPr/>
                  <a:t> still holds, but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depends on composition too.</a:t>
                </a:r>
              </a:p>
              <a:p>
                <a:pPr lvl="0"/>
                <a:r>
                  <a:rPr/>
                  <a:t>New concepts: partial molar properties, excess properties, activity coefficient models.</a:t>
                </a:r>
              </a:p>
              <a:p>
                <a:pPr lvl="0"/>
                <a:r>
                  <a:rPr/>
                  <a:t>The framework — First Law, Second Law, Gibbs free energy, residual/excess properties — is </a:t>
                </a:r>
                <a:r>
                  <a:rPr b="1"/>
                  <a:t>exactly the same</a:t>
                </a:r>
                <a:r>
                  <a:rPr/>
                  <a:t>.</a:t>
                </a:r>
              </a:p>
              <a:p>
                <a:pPr lvl="0"/>
                <a:r>
                  <a:rPr/>
                  <a:t>You already know the language.</a:t>
                </a:r>
              </a:p>
              <a:p>
                <a:pPr lvl="0" indent="0" marL="0">
                  <a:buNone/>
                </a:pPr>
                <a:r>
                  <a:rPr b="1"/>
                  <a:t>Process simulators (Aspen Plus, HYSYS, GAMS):</a:t>
                </a:r>
              </a:p>
              <a:p>
                <a:pPr lvl="0"/>
                <a:r>
                  <a:rPr/>
                  <a:t>Use exactly the equations we derived: PR/SRK EOS, residual property formulas, fugacity-based equilibrium.</a:t>
                </a:r>
              </a:p>
              <a:p>
                <a:pPr lvl="0"/>
                <a:r>
                  <a:rPr/>
                  <a:t>The day you can look at a simulator and understand </a:t>
                </a:r>
                <a:r>
                  <a:rPr b="1"/>
                  <a:t>where every number comes from</a:t>
                </a:r>
                <a:r>
                  <a:rPr/>
                  <a:t> is the day you become a more capable engineer.</a:t>
                </a:r>
              </a:p>
            </p:txBody>
          </p:sp>
        </mc:Choice>
      </mc:AlternateContent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slides/slide45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The Arc of CBE 20260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1981200" /><a:gridCol w="3403600" /><a:gridCol w="2832100" /></a:tblGrid><a:tr h="0"><a:tc><a:txBody><a:bodyPr /><a:lstStyle /><a:p><a:pPr lvl="0" indent="0" marL="0" algn="l"><a:buNone /></a:pPr><a:r><a:rPr /><a:t>Theme</a:t></a:r></a:p></a:txBody><a:tcPr /></a:tc><a:tc><a:txBody><a:bodyPr /><a:lstStyle /><a:p><a:pPr lvl="0" indent="0" marL="0" algn="l"><a:buNone /></a:pPr><a:r><a:rPr /><a:t>Key results</a:t></a:r></a:p></a:txBody><a:tcPr /></a:tc><a:tc><a:txBody><a:bodyPr /><a:lstStyle /><a:p><a:pPr lvl="0" indent="0" marL="0" algn="l"><a:buNone /></a:pPr><a:r><a:rPr /><a:t>Lectures</a:t></a:r></a:p></a:txBody><a:tcPr /></a:tc></a:tr><a:tr h="0"><a:tc><a:txBody><a:bodyPr /><a:lstStyle /><a:p><a:pPr lvl="0" indent="0" marL="0" algn="l"><a:buNone /></a:pPr><a:r><a:rPr b="1" /><a:t>Foundations</a:t></a:r></a:p></a:txBody></a:tc><a:tc><a:txBody><a:bodyPr /><a:lstStyle /><a:p><a:pPr lvl="0" indent="0" marL="0" algn="l"><a:buNone /></a:pPr><a:r><a:rPr /><a:t>Postulates; First Law; Second Law; entropy generation</a:t></a:r></a:p></a:txBody></a:tc><a:tc><a:txBody><a:bodyPr /><a:lstStyle /><a:p><a:pPr lvl="0" indent="0" marL="0" algn="l"><a:buNone /></a:pPr><a:r><a:rPr /><a:t>1–7</a:t></a:r></a:p></a:txBody></a:tc></a:tr><a:tr h="0"><a:tc><a:txBody><a:bodyPr /><a:lstStyle /><a:p><a:pPr lvl="0" indent="0" marL="0" algn="l"><a:buNone /></a:pPr><a:r><a:rPr b="1" /><a:t>Engineering devices</a:t></a:r></a:p></a:txBody></a:tc><a:tc><a:txBody><a:bodyPr /><a:lstStyle /><a:p><a:pPr lvl="0" indent="0" marL="0" algn="l"><a:buNone /></a:pPr><a:r><a:rPr /><a:t>Nozzles, turbines, compressors, heat exchangers</a:t></a:r></a:p></a:txBody></a:tc><a:tc><a:txBody><a:bodyPr /><a:lstStyle /><a:p><a:pPr lvl="0" indent="0" marL="0" algn="l"><a:buNone /></a:pPr><a:r><a:rPr /><a:t>8–13</a:t></a:r></a:p></a:txBody></a:tc></a:tr><a:tr h="0"><a:tc><a:txBody><a:bodyPr /><a:lstStyle /><a:p><a:pPr lvl="0" indent="0" marL="0" algn="l"><a:buNone /></a:pPr><a:r><a:rPr b="1" /><a:t>Cycles</a:t></a:r></a:p></a:txBody></a:tc><a:tc><a:txBody><a:bodyPr /><a:lstStyle /><a:p><a:pPr lvl="0" indent="0" marL="0" algn="l"><a:buNone /></a:pPr><a:r><a:rPr /><a:t>Rankine, refrigeration, liquefaction; Carnot limits</a:t></a:r></a:p></a:txBody></a:tc><a:tc><a:txBody><a:bodyPr /><a:lstStyle /><a:p><a:pPr lvl="0" indent="0" marL="0" algn="l"><a:buNone /></a:pPr><a:r><a:rPr /><a:t>14–22</a:t></a:r></a:p></a:txBody></a:tc></a:tr><a:tr h="0"><a:tc><a:txBody><a:bodyPr /><a:lstStyle /><a:p><a:pPr lvl="0" indent="0" marL="0" algn="l"><a:buNone /></a:pPr><a:r><a:rPr b="1" /><a:t>Math of thermodynamics</a:t></a:r></a:p></a:txBody></a:tc><a:tc><a:txBody><a:bodyPr /><a:lstStyle /><a:p><a:pPr lvl="0" indent="0" marL="0" algn="l"><a:buNone /></a:pPr><a:r><a:rPr /><a:t>Fundamental relations; Maxwell relations; general property equations</a:t></a:r></a:p></a:txBody></a:tc><a:tc><a:txBody><a:bodyPr /><a:lstStyle /><a:p><a:pPr lvl="0" indent="0" marL="0" algn="l"><a:buNone /></a:pPr><a:r><a:rPr /><a:t>23–25</a:t></a:r></a:p></a:txBody></a:tc></a:tr><a:tr h="0"><a:tc><a:txBody><a:bodyPr /><a:lstStyle /><a:p><a:pPr lvl="0" indent="0" marL="0" algn="l"><a:buNone /></a:pPr><a:r><a:rPr b="1" /><a:t>EOS and residual properties</a:t></a:r></a:p></a:txBody></a:tc><a:tc><a:txBody><a:bodyPr /><a:lstStyle /><a:p><a:pPr lvl="0" indent="0" marL="0" algn="l"><a:buNone /></a:pPr><a:r><a:rPr /><a:t>Cubic EOS; corresponding states; </a:t></a:r><a14:m><m:oMath xmlns:m="http://schemas.openxmlformats.org/officeDocument/2006/math"><m:sSup><m:e><m:r><m:t>H</m:t></m:r></m:e><m:sup><m:r><m:t>R</m:t></m:r></m:sup></m:sSup></m:oMath></a14:m><a:r><a:rPr /><a:t>, </a:t></a:r><a14:m><m:oMath xmlns:m="http://schemas.openxmlformats.org/officeDocument/2006/math"><m:sSup><m:e><m:r><m:t>S</m:t></m:r></m:e><m:sup><m:r><m:t>R</m:t></m:r></m:sup></m:sSup></m:oMath></a14:m></a:p></a:txBody></a:tc><a:tc><a:txBody><a:bodyPr /><a:lstStyle /><a:p><a:pPr lvl="0" indent="0" marL="0" algn="l"><a:buNone /></a:pPr><a:r><a:rPr /><a:t>26–30</a:t></a:r></a:p></a:txBody></a:tc></a:tr><a:tr h="0"><a:tc><a:txBody><a:bodyPr /><a:lstStyle /><a:p><a:pPr lvl="0" indent="0" marL="0" algn="l"><a:buNone /></a:pPr><a:r><a:rPr b="1" /><a:t>Phase diagrams and stability</a:t></a:r></a:p></a:txBody></a:tc><a:tc><a:txBody><a:bodyPr /><a:lstStyle /><a:p><a:pPr lvl="0" indent="0" marL="0" algn="l"><a:buNone /></a:pPr><a:r><a:rPr /><a:t>Pure-component phase diagrams; Clapeyron equation</a:t></a:r></a:p></a:txBody></a:tc><a:tc><a:txBody><a:bodyPr /><a:lstStyle /><a:p><a:pPr lvl="0" indent="0" marL="0" algn="l"><a:buNone /></a:pPr><a:r><a:rPr /><a:t>31–33</a:t></a:r></a:p></a:txBody></a:tc></a:tr><a:tr h="0"><a:tc><a:txBody><a:bodyPr /><a:lstStyle /><a:p><a:pPr lvl="0" indent="0" marL="0" algn="l"><a:buNone /></a:pPr><a:r><a:rPr b="1" /><a:t>Fugacity</a:t></a:r></a:p></a:txBody></a:tc><a:tc><a:txBody><a:bodyPr /><a:lstStyle /><a:p><a:pPr lvl="0" indent="0" marL="0" algn="l"><a:buNone /></a:pPr><a:r><a:rPr /><a:t>Definition; </a:t></a:r><a14:m><m:oMath xmlns:m="http://schemas.openxmlformats.org/officeDocument/2006/math"><m:r><m:rPr><m:sty m:val="p" /></m:rPr><m:t>ln</m:t></m:r><m:r><m:t>ϕ</m:t></m:r></m:oMath></a14:m><a:r><a:rPr /><a:t> formulas; phase stability; Poynting correction</a:t></a:r></a:p></a:txBody></a:tc><a:tc><a:txBody><a:bodyPr /><a:lstStyle /><a:p><a:pPr lvl="0" indent="0" marL="0" algn="l"><a:buNone /></a:pPr><a:r><a:rPr /><a:t>34–35</a:t></a:r></a:p></a:txBody></a:tc></a:tr></a:tbl></a:graphicData></a:graphic></p:graphicFrame></p:spTree></p:cSld>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Conceptual Ladder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limLow>
                        <m:e>
                          <m:limLow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Postulates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Lec. 1–4</m:t>
                          </m:r>
                        </m:lim>
                      </m:limLow>
                      <m:limUpp>
                        <m:e>
                          <m:r>
                            <m:rPr>
                              <m:sty m:val="p"/>
                            </m:rPr>
                            <m:t>→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 </m:t>
                          </m:r>
                          <m:r>
                            <m:rPr>
                              <m:nor/>
                              <m:sty m:val="p"/>
                            </m:rPr>
                            <m:t>calculus</m:t>
                          </m:r>
                        </m:lim>
                      </m:limUpp>
                      <m:limLow>
                        <m:e>
                          <m:limLow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Fundamental relations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Lec. 23–25</m:t>
                          </m:r>
                        </m:lim>
                      </m:limLow>
                      <m:limUpp>
                        <m:e>
                          <m:r>
                            <m:rPr>
                              <m:sty m:val="p"/>
                            </m:rPr>
                            <m:t>→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 </m:t>
                          </m:r>
                          <m:r>
                            <m:rPr>
                              <m:nor/>
                              <m:sty m:val="p"/>
                            </m:rPr>
                            <m:t>EOS</m:t>
                          </m:r>
                        </m:lim>
                      </m:limUpp>
                      <m:limLow>
                        <m:e>
                          <m:limLow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Residual props.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Lec. 26–30</m:t>
                          </m:r>
                        </m:lim>
                      </m:limLow>
                      <m:limUpp>
                        <m:e>
                          <m:r>
                            <m:rPr>
                              <m:sty m:val="p"/>
                            </m:rPr>
                            <m:t>→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 </m:t>
                          </m:r>
                          <m:sSup>
                            <m:e>
                              <m:r>
                                <m:t>G</m:t>
                              </m:r>
                            </m:e>
                            <m:sup>
                              <m:r>
                                <m:t>R</m:t>
                              </m:r>
                            </m:sup>
                          </m:sSup>
                        </m:lim>
                      </m:limUpp>
                      <m:limLow>
                        <m:e>
                          <m:limLow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Fugacity &amp;phase eq.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Lec. 33–35</m:t>
                          </m:r>
                        </m:lim>
                      </m:limLow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And throughout, </a:t>
                </a:r>
                <a:r>
                  <a:rPr b="1"/>
                  <a:t>energy and entropy balances</a:t>
                </a:r>
                <a:r>
                  <a:rPr/>
                  <a:t> (Lectures 5–22) gave you the tools to apply all this to real engineering devices and cycles.</a:t>
                </a:r>
              </a:p>
            </p:txBody>
          </p:sp>
        </mc:Choice>
      </mc:AlternateContent>
    </p:spTree>
  </p:cSld>
</p:sld>
</file>

<file path=ppt/slides/slide47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Course Learning Objectives (1/2)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4483100" /><a:gridCol w="3746500" /></a:tblGrid><a:tr h="0"><a:tc><a:txBody><a:bodyPr /><a:lstStyle /><a:p><a:pPr lvl="0" indent="0" marL="0" algn="l"><a:buNone /></a:pPr><a:r><a:rPr /><a:t>Capability</a:t></a:r></a:p></a:txBody><a:tcPr /></a:tc><a:tc><a:txBody><a:bodyPr /><a:lstStyle /><a:p><a:pPr lvl="0" indent="0" marL="0" algn="l"><a:buNone /></a:pPr><a:r><a:rPr /><a:t>Covered in</a:t></a:r></a:p></a:txBody><a:tcPr /></a:tc></a:tr><a:tr h="0"><a:tc><a:txBody><a:bodyPr /><a:lstStyle /><a:p><a:pPr lvl="0" indent="0" marL="0" algn="l"><a:buNone /></a:pPr><a:r><a:rPr /><a:t>Describe thermodynamic concepts: heat, work, </a:t></a:r><a14:m><m:oMath xmlns:m="http://schemas.openxmlformats.org/officeDocument/2006/math"><m:r><m:t>U</m:t></m:r></m:oMath></a14:m><a:r><a:rPr /><a:t>, </a:t></a:r><a14:m><m:oMath xmlns:m="http://schemas.openxmlformats.org/officeDocument/2006/math"><m:sSub><m:e><m:r><m:t>C</m:t></m:r></m:e><m:sub><m:r><m:t>p</m:t></m:r></m:sub></m:sSub></m:oMath></a14:m><a:r><a:rPr /><a:t>, entropy, state functions</a:t></a:r></a:p></a:txBody></a:tc><a:tc><a:txBody><a:bodyPr /><a:lstStyle /><a:p><a:pPr lvl="0" indent="0" marL="0" algn="l"><a:buNone /></a:pPr><a:r><a:rPr /><a:t>Parts I &amp; III</a:t></a:r></a:p></a:txBody></a:tc></a:tr><a:tr h="0"><a:tc><a:txBody><a:bodyPr /><a:lstStyle /><a:p><a:pPr lvl="0" indent="0" marL="0" algn="l"><a:buNone /></a:pPr><a:r><a:rPr /><a:t>State and apply the First and Second Laws to open and closed systems</a:t></a:r></a:p></a:txBody></a:tc><a:tc><a:txBody><a:bodyPr /><a:lstStyle /><a:p><a:pPr lvl="0" indent="0" marL="0" algn="l"><a:buNone /></a:pPr><a:r><a:rPr /><a:t>Parts I &amp; II</a:t></a:r></a:p></a:txBody></a:tc></a:tr><a:tr h="0"><a:tc><a:txBody><a:bodyPr /><a:lstStyle /><a:p><a:pPr lvl="0" indent="0" marL="0" algn="l"><a:buNone /></a:pPr><a:r><a:rPr /><a:t>Evaluate thermodynamic feasibility and efficiency of a process</a:t></a:r></a:p></a:txBody></a:tc><a:tc><a:txBody><a:bodyPr /><a:lstStyle /><a:p><a:pPr lvl="0" indent="0" marL="0" algn="l"><a:buNone /></a:pPr><a:r><a:rPr /><a:t>Parts I &amp; II</a:t></a:r></a:p></a:txBody></a:tc></a:tr><a:tr h="0"><a:tc><a:txBody><a:bodyPr /><a:lstStyle /><a:p><a:pPr lvl="0" indent="0" marL="0" algn="l"><a:buNone /></a:pPr><a:r><a:rPr /><a:t>Analyze power and refrigeration cycles</a:t></a:r></a:p></a:txBody></a:tc><a:tc><a:txBody><a:bodyPr /><a:lstStyle /><a:p><a:pPr lvl="0" indent="0" marL="0" algn="l"><a:buNone /></a:pPr><a:r><a:rPr /><a:t>Part II</a:t></a:r></a:p></a:txBody></a:tc></a:tr><a:tr h="0"><a:tc><a:txBody><a:bodyPr /><a:lstStyle /><a:p><a:pPr lvl="0" indent="0" marL="0" algn="l"><a:buNone /></a:pPr><a:r><a:rPr /><a:t>Apply equations of state to calculate unknown properties</a:t></a:r></a:p></a:txBody></a:tc><a:tc><a:txBody><a:bodyPr /><a:lstStyle /><a:p><a:pPr lvl="0" indent="0" marL="0" algn="l"><a:buNone /></a:pPr><a:r><a:rPr /><a:t>Part IV</a:t></a:r></a:p></a:txBody></a:tc></a:tr><a:tr h="0"><a:tc><a:txBody><a:bodyPr /><a:lstStyle /><a:p><a:pPr lvl="0" indent="0" marL="0" algn="l"><a:buNone /></a:pPr><a:r><a:rPr /><a:t>State and apply the principle of corresponding states</a:t></a:r></a:p></a:txBody></a:tc><a:tc><a:txBody><a:bodyPr /><a:lstStyle /><a:p><a:pPr lvl="0" indent="0" marL="0" algn="l"><a:buNone /></a:pPr><a:r><a:rPr /><a:t>Part IV</a:t></a:r></a:p></a:txBody></a:tc></a:tr></a:tbl></a:graphicData></a:graphic></p:graphicFrame></p:spTree></p:cSld>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Learning Objectives (2/2)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3100"/>
                <a:gridCol w="37465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Covered in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Know and apply fundamental property relations and Maxwell relations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Part III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Use residual properties for non-ideal First and Second Law problems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Part V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Understand phase diagrams of pure fluids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Part VI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Calculate fugacity and saturation pressure from an EOS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Parts VI &amp; VII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Utilize tabulated properties (steam tables) for thermodynamic calculations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Part II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Final 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Thermodynamics was built from remarkably little raw material: conservation of energy, the tendency of isolated systems toward maximum entropy, and the mathematics of state functions. The formulas are just the outputs.</a:t>
            </a:r>
          </a:p>
          <a:p>
            <a:pPr lvl="0" indent="0" marL="0">
              <a:buNone/>
            </a:pPr>
            <a:r>
              <a:rPr/>
              <a:t>When you encounter a new thermodynamic problem in practice, ask:</a:t>
            </a:r>
          </a:p>
          <a:p>
            <a:pPr lvl="0" indent="-342900" marL="342900">
              <a:buAutoNum type="arabicPeriod"/>
            </a:pPr>
            <a:r>
              <a:rPr b="1"/>
              <a:t>What does the First Law say?</a:t>
            </a:r>
          </a:p>
          <a:p>
            <a:pPr lvl="0" indent="-342900" marL="342900">
              <a:buAutoNum type="arabicPeriod"/>
            </a:pPr>
            <a:r>
              <a:rPr b="1"/>
              <a:t>What does the Second Law demand?</a:t>
            </a:r>
          </a:p>
          <a:p>
            <a:pPr lvl="0" indent="-342900" marL="342900">
              <a:buAutoNum type="arabicPeriod"/>
            </a:pPr>
            <a:r>
              <a:rPr b="1"/>
              <a:t>What does the equation of state tell me about this fluid?</a:t>
            </a:r>
          </a:p>
          <a:p>
            <a:pPr lvl="0" indent="0" marL="0">
              <a:buNone/>
            </a:pPr>
            <a:r>
              <a:rPr/>
              <a:t>If you can answer those three questions, </a:t>
            </a:r>
            <a:r>
              <a:rPr b="1"/>
              <a:t>you can solve the problem.</a:t>
            </a:r>
          </a:p>
          <a:p>
            <a:pPr lvl="0" indent="0" marL="0">
              <a:buNone/>
            </a:pPr>
            <a:r>
              <a:rPr i="1"/>
              <a:t>Good luck on the final exam — and in everything that comes after.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35: The Big Picture</dc:title>
  <dc:creator>Edward Maginn</dc:creator>
  <cp:keywords/>
  <dcterms:created xsi:type="dcterms:W3CDTF">2026-09-22T18:05:45Z</dcterms:created>
  <dcterms:modified xsi:type="dcterms:W3CDTF">2026-09-22T18:05:45Z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crossref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resources">
    <vt:lpwstr/>
  </property>
  <property fmtid="{D5CDD505-2E9C-101B-9397-08002B2CF9AE}" pid="13" name="subtitle">
    <vt:lpwstr>A Journey Through Thermodynamics — CBE 20260</vt:lpwstr>
  </property>
  <property fmtid="{D5CDD505-2E9C-101B-9397-08002B2CF9AE}" pid="14" name="toc-title">
    <vt:lpwstr>Table of contents</vt:lpwstr>
  </property>
</Properties>
</file>
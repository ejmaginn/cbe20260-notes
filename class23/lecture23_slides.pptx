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23: The Mathematics of 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Thermodynamic Potentials &amp; Legendre Transforms</a:t>
            </a:r>
            <a:br/>
            <a:br/>
            <a:r>
              <a:rPr/>
              <a:t>CBE 20260 / Thermodynamics 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Introduction: From Concepts to Math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Moving from Concepts to Mathematics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So far:</a:t>
                </a:r>
                <a:r>
                  <a:rPr/>
                  <a:t> We analyzed equipment (turbines, pumps) and cycles using the 1st and 2nd Laws.</a:t>
                </a:r>
              </a:p>
              <a:p>
                <a:pPr lvl="0"/>
                <a:r>
                  <a:rPr b="1"/>
                  <a:t>The Method:</a:t>
                </a:r>
                <a:r>
                  <a:rPr/>
                  <a:t> We relied heavily on tables and charts to find </a:t>
                </a:r>
                <a14:m>
                  <m:oMath xmlns:m="http://schemas.openxmlformats.org/officeDocument/2006/math">
                    <m:r>
                      <m:t>U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, and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The Problem:</a:t>
                </a:r>
                <a:r>
                  <a:rPr/>
                  <a:t> Where do those tables come from?</a:t>
                </a:r>
              </a:p>
              <a:p>
                <a:pPr lvl="1"/>
                <a:r>
                  <a:rPr/>
                  <a:t>You cannot directly measure Internal Energy (</a:t>
                </a:r>
                <a14:m>
                  <m:oMath xmlns:m="http://schemas.openxmlformats.org/officeDocument/2006/math">
                    <m:r>
                      <m:t>U</m:t>
                    </m:r>
                  </m:oMath>
                </a14:m>
                <a:r>
                  <a:rPr/>
                  <a:t>) or Entropy (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) with a meter.</a:t>
                </a:r>
              </a:p>
              <a:p>
                <a:pPr lvl="1"/>
                <a:r>
                  <a:rPr/>
                  <a:t>You can only measure Temperature (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), Pressure (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), Volume (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), and Heat Capacity (</a:t>
                </a:r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 b="1"/>
                  <a:t>The Goal:</a:t>
                </a:r>
                <a:r>
                  <a:rPr/>
                  <a:t> Develop a mathematical framework to rewrite thermodynamics entirely in terms of measurable variables.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Fundamental Equation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Fundamental Equation of Thermodynamics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combine the First and Second Laws for a closed, single-component system.</a:t>
                </a:r>
              </a:p>
              <a:p>
                <a:pPr lvl="0"/>
                <a:r>
                  <a:rPr b="1"/>
                  <a:t>First Law (Energy Balance):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δ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δ</m:t>
                      </m:r>
                      <m:r>
                        <m:t>W</m:t>
                      </m:r>
                    </m:oMath>
                  </m:oMathPara>
                </a14:m>
              </a:p>
              <a:p>
                <a:pPr lvl="0"/>
                <a:r>
                  <a:rPr b="1"/>
                  <a:t>Reversible Process Assumptions:</a:t>
                </a:r>
                <a:r>
                  <a:rPr/>
                  <a:t> * 2nd Law: </a:t>
                </a:r>
                <a14:m>
                  <m:oMath xmlns:m="http://schemas.openxmlformats.org/officeDocument/2006/math">
                    <m:r>
                      <m:t>δ</m:t>
                    </m:r>
                    <m:sSub>
                      <m:e>
                        <m:r>
                          <m:t>Q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T</m:t>
                    </m:r>
                    <m:r>
                      <m:t>d</m:t>
                    </m:r>
                    <m:r>
                      <m:t>S</m:t>
                    </m:r>
                  </m:oMath>
                </a14:m>
              </a:p>
              <a:p>
                <a:pPr lvl="1"/>
                <a:r>
                  <a:rPr/>
                  <a:t>Mechanical Work: </a:t>
                </a:r>
                <a14:m>
                  <m:oMath xmlns:m="http://schemas.openxmlformats.org/officeDocument/2006/math">
                    <m:r>
                      <m:t>δ</m:t>
                    </m:r>
                    <m:sSub>
                      <m:e>
                        <m:r>
                          <m:t>W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v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P</m:t>
                    </m:r>
                    <m:r>
                      <m:t>d</m:t>
                    </m:r>
                    <m:r>
                      <m:t>V</m:t>
                    </m:r>
                  </m:oMath>
                </a14:m>
              </a:p>
              <a:p>
                <a:pPr lvl="0"/>
                <a:r>
                  <a:rPr b="1"/>
                  <a:t>Substitute: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T</m:t>
                      </m:r>
                      <m:r>
                        <m:t>d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P</m:t>
                      </m:r>
                      <m:r>
                        <m:t>d</m:t>
                      </m:r>
                      <m:r>
                        <m:t>V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Properties of the Fundamental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T</m:t>
                      </m:r>
                      <m:r>
                        <m:t>d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P</m:t>
                      </m:r>
                      <m:r>
                        <m:t>d</m:t>
                      </m:r>
                      <m:r>
                        <m:t>V</m:t>
                      </m:r>
                    </m:oMath>
                  </m:oMathPara>
                </a14:m>
              </a:p>
              <a:p>
                <a:pPr lvl="0"/>
                <a:r>
                  <a:rPr b="1"/>
                  <a:t>Crucial Note:</a:t>
                </a:r>
                <a:r>
                  <a:rPr/>
                  <a:t> Even though we assumed a reversible process, </a:t>
                </a:r>
                <a14:m>
                  <m:oMath xmlns:m="http://schemas.openxmlformats.org/officeDocument/2006/math">
                    <m:r>
                      <m:t>U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, and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are all </a:t>
                </a:r>
                <a:r>
                  <a:rPr b="1"/>
                  <a:t>state functions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This equation holds true for </a:t>
                </a:r>
                <a:r>
                  <a:rPr i="1"/>
                  <a:t>any</a:t>
                </a:r>
                <a:r>
                  <a:rPr/>
                  <a:t> process between two equilibrium states, reversible or irreversible!</a:t>
                </a:r>
              </a:p>
              <a:p>
                <a:pPr lvl="0"/>
                <a:r>
                  <a:rPr/>
                  <a:t>It shows the “natural” independent variables for Internal Energy:</a:t>
                </a:r>
                <a:br/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U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U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V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 Review: Exact Differentials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Exact Differentials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Because </a:t>
                </a:r>
                <a14:m>
                  <m:oMath xmlns:m="http://schemas.openxmlformats.org/officeDocument/2006/math">
                    <m:r>
                      <m:t>U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, and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are state functions, their differentials are </a:t>
                </a:r>
                <a:r>
                  <a:rPr b="1"/>
                  <a:t>exact</a:t>
                </a:r>
                <a:r>
                  <a:rPr/>
                  <a:t>.</a:t>
                </a:r>
              </a:p>
              <a:p>
                <a:pPr lvl="0"/>
                <a:r>
                  <a:rPr/>
                  <a:t>From multivariable calculus, for a function </a:t>
                </a:r>
                <a14:m>
                  <m:oMath xmlns:m="http://schemas.openxmlformats.org/officeDocument/2006/math">
                    <m:r>
                      <m:t>F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y</m:t>
                        </m:r>
                      </m:e>
                    </m:d>
                  </m:oMath>
                </a14:m>
                <a:r>
                  <a:rPr/>
                  <a:t>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F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x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>y</m:t>
                          </m:r>
                        </m:sub>
                      </m:sSub>
                      <m:r>
                        <m:t>d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F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y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>x</m:t>
                          </m:r>
                        </m:sub>
                      </m:sSub>
                      <m:r>
                        <m:t>d</m:t>
                      </m:r>
                      <m:r>
                        <m:t>y</m:t>
                      </m:r>
                    </m:oMath>
                  </m:oMathPara>
                </a14:m>
              </a:p>
              <a:p>
                <a:pPr lvl="0"/>
                <a:r>
                  <a:rPr/>
                  <a:t>Let’s define the partial derivatives as coefficients: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t>d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</m:e>
                      </m:d>
                      <m:r>
                        <m:t>d</m:t>
                      </m:r>
                      <m:r>
                        <m:t>y</m:t>
                      </m:r>
                    </m:oMath>
                  </m:oMathPara>
                </a14:m>
              </a:p>
              <a:p>
                <a:pPr lvl="0"/>
                <a:r>
                  <a:rPr b="1"/>
                  <a:t>Key Property:</a:t>
                </a:r>
                <a:r>
                  <a:rPr/>
                  <a:t> The mixed second partial derivatives must be equal: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M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y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N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x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Applying Exact Differentials to 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Apply this framework to our fundamental equation: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T</m:t>
                      </m:r>
                      <m:r>
                        <m:t>d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P</m:t>
                      </m:r>
                      <m:r>
                        <m:t>d</m:t>
                      </m:r>
                      <m:r>
                        <m:t>V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We immediately see that: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U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S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>V</m:t>
                          </m:r>
                        </m:sub>
                      </m:sSub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and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U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m:t>∂</m:t>
                                  </m:r>
                                  <m:r>
                                    <m:t>V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>S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Temperature and Pressure are simply the partial derivatives (or slopes) of the Internal Energy surface!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Legendre Transforms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Variable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U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S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V</m:t>
                        </m:r>
                      </m:e>
                    </m:d>
                  </m:oMath>
                </a14:m>
                <a:r>
                  <a:rPr/>
                  <a:t> contains all fundamental thermodynamic information.</a:t>
                </a:r>
              </a:p>
              <a:p>
                <a:pPr lvl="0"/>
                <a:r>
                  <a:rPr b="1"/>
                  <a:t>However: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are highly inconvenient variables for chemical engineers. It is very hard to hold entropy constant in a lab.</a:t>
                </a:r>
              </a:p>
              <a:p>
                <a:pPr lvl="0"/>
                <a:r>
                  <a:rPr/>
                  <a:t>We prefer to work with </a:t>
                </a:r>
                <a:r>
                  <a:rPr b="1"/>
                  <a:t>Temperature</a:t>
                </a:r>
                <a:r>
                  <a:rPr/>
                  <a:t> and </a:t>
                </a:r>
                <a:r>
                  <a:rPr b="1"/>
                  <a:t>Pressure</a:t>
                </a:r>
                <a:r>
                  <a:rPr/>
                  <a:t>.</a:t>
                </a:r>
              </a:p>
              <a:p>
                <a:pPr lvl="0"/>
                <a:r>
                  <a:rPr/>
                  <a:t>We need to swap variables (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T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P</m:t>
                    </m:r>
                  </m:oMath>
                </a14:m>
                <a:r>
                  <a:rPr/>
                  <a:t>) </a:t>
                </a:r>
                <a:r>
                  <a:rPr i="1"/>
                  <a:t>without losing information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Simple Swapping Fails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Suppose we have a generic function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and want to replace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with the slope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d</m:t>
                        </m:r>
                        <m:r>
                          <m:t>f</m:t>
                        </m:r>
                      </m:num>
                      <m:den>
                        <m:r>
                          <m:t>d</m:t>
                        </m:r>
                        <m:r>
                          <m:t>x</m:t>
                        </m:r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If we just write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m</m:t>
                        </m:r>
                      </m:e>
                    </m:d>
                  </m:oMath>
                </a14:m>
                <a:r>
                  <a:rPr/>
                  <a:t>, </a:t>
                </a:r>
                <a:r>
                  <a:rPr b="1"/>
                  <a:t>it fails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Parallel curves have the exact same slope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at a given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Swapping variables loses the integration constant—we lose physical data!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Legendre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How do we uniquely identify a curve using only its slopes? Define it as an </a:t>
                </a:r>
                <a:r>
                  <a:rPr b="1"/>
                  <a:t>envelope of tangent lines</a:t>
                </a:r>
                <a:r>
                  <a:rPr/>
                  <a:t>.</a:t>
                </a:r>
              </a:p>
              <a:p>
                <a:pPr lvl="0"/>
                <a:r>
                  <a:rPr/>
                  <a:t>Tangent line: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</m:oMath>
                </a14:m>
              </a:p>
              <a:p>
                <a:pPr lvl="0"/>
                <a:r>
                  <a:rPr/>
                  <a:t>Solve for the y-intercept: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r>
                      <m:t>y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m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Because every point has a unique tangent intercept, the function </a:t>
                </a:r>
                <a14:m>
                  <m:oMath xmlns:m="http://schemas.openxmlformats.org/officeDocument/2006/math">
                    <m:r>
                      <m:t>b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m</m:t>
                        </m:r>
                      </m:e>
                    </m:d>
                  </m:oMath>
                </a14:m>
                <a:r>
                  <a:rPr/>
                  <a:t> contains the exact same info as </a:t>
                </a:r>
                <a14:m>
                  <m:oMath xmlns:m="http://schemas.openxmlformats.org/officeDocument/2006/math">
                    <m:r>
                      <m:t>y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!</a:t>
                </a:r>
              </a:p>
              <a:p>
                <a:pPr lvl="0" indent="0" marL="0">
                  <a:buNone/>
                </a:pPr>
                <a:r>
                  <a:rPr b="1"/>
                  <a:t>The Legendre Transform: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n</m:t>
                          </m:r>
                          <m:r>
                            <m:t>e</m:t>
                          </m:r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o</m:t>
                          </m:r>
                          <m:r>
                            <m:t>l</m:t>
                          </m:r>
                          <m: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r>
                        <m:t>x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∂</m:t>
                              </m:r>
                              <m:sSub>
                                <m:e>
                                  <m:r>
                                    <m:t>F</m:t>
                                  </m:r>
                                </m:e>
                                <m:sub>
                                  <m:r>
                                    <m:t>o</m:t>
                                  </m:r>
                                  <m:r>
                                    <m:t>l</m:t>
                                  </m:r>
                                  <m:r>
                                    <m:t>d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m:t>∂</m:t>
                              </m:r>
                              <m:r>
                                <m:t>x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1. Enthalpy (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)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swap Volume (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) for Pressure (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). The conjugate slope to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P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Definition: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≡</m:t>
                    </m:r>
                    <m:r>
                      <m:t>U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V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U</m:t>
                    </m:r>
                    <m:r>
                      <m:rPr>
                        <m:sty m:val="p"/>
                      </m:rPr>
                      <m:t>+</m:t>
                    </m:r>
                    <m:r>
                      <m:t>P</m:t>
                    </m:r>
                    <m:r>
                      <m:t>V</m:t>
                    </m:r>
                  </m:oMath>
                </a14:m>
              </a:p>
              <a:p>
                <a:pPr lvl="0"/>
                <a:r>
                  <a:rPr b="1"/>
                  <a:t>Differential: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r>
                      <m:t>U</m:t>
                    </m:r>
                    <m:r>
                      <m:rPr>
                        <m:sty m:val="p"/>
                      </m:rPr>
                      <m:t>+</m:t>
                    </m:r>
                    <m:r>
                      <m:t>P</m:t>
                    </m:r>
                    <m:r>
                      <m:t>d</m:t>
                    </m:r>
                    <m:r>
                      <m:t>V</m:t>
                    </m:r>
                    <m:r>
                      <m:rPr>
                        <m:sty m:val="p"/>
                      </m:rPr>
                      <m:t>+</m:t>
                    </m:r>
                    <m:r>
                      <m:t>V</m:t>
                    </m:r>
                    <m:r>
                      <m:t>d</m:t>
                    </m:r>
                    <m:r>
                      <m:t>P</m:t>
                    </m:r>
                  </m:oMath>
                </a14:m>
              </a:p>
              <a:p>
                <a:pPr lvl="0"/>
                <a:r>
                  <a:rPr b="1"/>
                  <a:t>Substitute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U</m:t>
                    </m:r>
                  </m:oMath>
                </a14:m>
                <a:r>
                  <a:rPr b="1"/>
                  <a:t>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t>d</m:t>
                        </m:r>
                        <m:r>
                          <m:t>S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  <m:r>
                          <m:t>d</m:t>
                        </m:r>
                        <m:r>
                          <m:t>V</m:t>
                        </m:r>
                      </m:e>
                    </m:d>
                    <m:r>
                      <m:rPr>
                        <m:sty m:val="p"/>
                      </m:rPr>
                      <m:t>+</m:t>
                    </m:r>
                    <m:r>
                      <m:t>P</m:t>
                    </m:r>
                    <m:r>
                      <m:t>d</m:t>
                    </m:r>
                    <m:r>
                      <m:t>V</m:t>
                    </m:r>
                    <m:r>
                      <m:rPr>
                        <m:sty m:val="p"/>
                      </m:rPr>
                      <m:t>+</m:t>
                    </m:r>
                    <m:r>
                      <m:t>V</m:t>
                    </m:r>
                    <m:r>
                      <m:t>d</m:t>
                    </m:r>
                    <m:r>
                      <m:t>P</m:t>
                    </m:r>
                  </m:oMath>
                </a14:m>
              </a:p>
              <a:p>
                <a:pPr lvl="0"/>
                <a:r>
                  <a:rPr b="1"/>
                  <a:t>Result: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H</m:t>
                      </m:r>
                      <m:r>
                        <m:rPr>
                          <m:sty m:val="b"/>
                        </m:rPr>
                        <m:t>=</m:t>
                      </m:r>
                      <m:r>
                        <m:rPr>
                          <m:sty m:val="b"/>
                        </m:rPr>
                        <m:t>T</m:t>
                      </m:r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S</m:t>
                      </m:r>
                      <m:r>
                        <m:rPr>
                          <m:sty m:val="b"/>
                        </m:rPr>
                        <m:t>+</m:t>
                      </m:r>
                      <m:r>
                        <m:rPr>
                          <m:sty m:val="b"/>
                        </m:rPr>
                        <m:t>V</m:t>
                      </m:r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P</m:t>
                      </m:r>
                    </m:oMath>
                  </m:oMathPara>
                </a14:m>
              </a:p>
              <a:p>
                <a:pPr lvl="0"/>
                <a:r>
                  <a:rPr i="1"/>
                  <a:t>Natural variables: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H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S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2. Helmholtz Free Energy (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)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swap Entropy (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) for Temperature (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). The conjugate slope to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is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Definition: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≡</m:t>
                    </m:r>
                    <m:r>
                      <m:t>U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U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a:p>
              <a:p>
                <a:pPr lvl="0"/>
                <a:r>
                  <a:rPr b="1"/>
                  <a:t>Differential: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r>
                      <m:t>U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d</m:t>
                    </m:r>
                    <m:r>
                      <m:t>S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d</m:t>
                    </m:r>
                    <m:r>
                      <m:t>T</m:t>
                    </m:r>
                  </m:oMath>
                </a14:m>
              </a:p>
              <a:p>
                <a:pPr lvl="0"/>
                <a:r>
                  <a:rPr b="1"/>
                  <a:t>Substitute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U</m:t>
                    </m:r>
                  </m:oMath>
                </a14:m>
                <a:r>
                  <a:rPr b="1"/>
                  <a:t>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t>d</m:t>
                        </m:r>
                        <m:r>
                          <m:t>S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  <m:r>
                          <m:t>d</m:t>
                        </m:r>
                        <m:r>
                          <m:t>V</m:t>
                        </m:r>
                      </m:e>
                    </m:d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d</m:t>
                    </m:r>
                    <m:r>
                      <m:t>S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d</m:t>
                    </m:r>
                    <m:r>
                      <m:t>T</m:t>
                    </m:r>
                  </m:oMath>
                </a14:m>
              </a:p>
              <a:p>
                <a:pPr lvl="0"/>
                <a:r>
                  <a:rPr b="1"/>
                  <a:t>Result: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A</m:t>
                      </m:r>
                      <m:r>
                        <m:rPr>
                          <m:sty m:val="b"/>
                        </m:rPr>
                        <m:t>=</m:t>
                      </m:r>
                      <m:r>
                        <m:rPr>
                          <m:sty m:val="b"/>
                        </m:rPr>
                        <m:t>−</m:t>
                      </m:r>
                      <m:r>
                        <m:rPr>
                          <m:sty m:val="b"/>
                        </m:rPr>
                        <m:t>S</m:t>
                      </m:r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T</m:t>
                      </m:r>
                      <m:r>
                        <m:rPr>
                          <m:sty m:val="b"/>
                        </m:rPr>
                        <m:t>−</m:t>
                      </m:r>
                      <m:r>
                        <m:rPr>
                          <m:sty m:val="b"/>
                        </m:rPr>
                        <m:t>P</m:t>
                      </m:r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V</m:t>
                      </m:r>
                    </m:oMath>
                  </m:oMathPara>
                </a14:m>
              </a:p>
              <a:p>
                <a:pPr lvl="0"/>
                <a:r>
                  <a:rPr i="1"/>
                  <a:t>Natural variables: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A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V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3. Gibbs Free Energy (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)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swap </a:t>
                </a:r>
                <a:r>
                  <a:rPr i="1"/>
                  <a:t>both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P</m:t>
                    </m:r>
                  </m:oMath>
                </a14:m>
                <a:r>
                  <a:rPr/>
                  <a:t>, and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T</m:t>
                    </m:r>
                  </m:oMath>
                </a14:m>
                <a:r>
                  <a:rPr/>
                  <a:t>. Apply the transform twice.</a:t>
                </a:r>
              </a:p>
              <a:p>
                <a:pPr lvl="0"/>
                <a:r>
                  <a:rPr b="1"/>
                  <a:t>Definition: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G</m:t>
                    </m:r>
                    <m:r>
                      <m:rPr>
                        <m:sty m:val="p"/>
                      </m:rPr>
                      <m:t>≡</m:t>
                    </m:r>
                    <m:r>
                      <m:t>U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V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</m:e>
                    </m:d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U</m:t>
                    </m:r>
                    <m:r>
                      <m:rPr>
                        <m:sty m:val="p"/>
                      </m:rPr>
                      <m:t>+</m:t>
                    </m:r>
                    <m:r>
                      <m:t>P</m:t>
                    </m:r>
                    <m:r>
                      <m:t>V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S</m:t>
                    </m:r>
                    <m:r>
                      <m:rPr>
                        <m:sty m:val="p"/>
                      </m:rPr>
                      <m:t>=</m:t>
                    </m:r>
                    <m:r>
                      <m:t>H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a:p>
              <a:p>
                <a:pPr lvl="0"/>
                <a:r>
                  <a:rPr b="1"/>
                  <a:t>Differential: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G</m:t>
                    </m:r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r>
                      <m:t>H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d</m:t>
                    </m:r>
                    <m:r>
                      <m:t>S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d</m:t>
                    </m:r>
                    <m:r>
                      <m:t>T</m:t>
                    </m:r>
                  </m:oMath>
                </a14:m>
              </a:p>
              <a:p>
                <a:pPr lvl="0"/>
                <a:r>
                  <a:rPr b="1"/>
                  <a:t>Substitute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H</m:t>
                    </m:r>
                  </m:oMath>
                </a14:m>
                <a:r>
                  <a:rPr b="1"/>
                  <a:t>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G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t>d</m:t>
                        </m:r>
                        <m:r>
                          <m:t>S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V</m:t>
                        </m:r>
                        <m:r>
                          <m:t>d</m:t>
                        </m:r>
                        <m:r>
                          <m:t>P</m:t>
                        </m:r>
                      </m:e>
                    </m:d>
                    <m:r>
                      <m:rPr>
                        <m:sty m:val="p"/>
                      </m:rPr>
                      <m:t>−</m:t>
                    </m:r>
                    <m:r>
                      <m:t>T</m:t>
                    </m:r>
                    <m:r>
                      <m:t>d</m:t>
                    </m:r>
                    <m:r>
                      <m:t>S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d</m:t>
                    </m:r>
                    <m:r>
                      <m:t>T</m:t>
                    </m:r>
                  </m:oMath>
                </a14:m>
              </a:p>
              <a:p>
                <a:pPr lvl="0"/>
                <a:r>
                  <a:rPr b="1"/>
                  <a:t>Result: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G</m:t>
                      </m:r>
                      <m:r>
                        <m:rPr>
                          <m:sty m:val="b"/>
                        </m:rPr>
                        <m:t>=</m:t>
                      </m:r>
                      <m:r>
                        <m:rPr>
                          <m:sty m:val="b"/>
                        </m:rPr>
                        <m:t>−</m:t>
                      </m:r>
                      <m:r>
                        <m:rPr>
                          <m:sty m:val="b"/>
                        </m:rPr>
                        <m:t>S</m:t>
                      </m:r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T</m:t>
                      </m:r>
                      <m:r>
                        <m:rPr>
                          <m:sty m:val="b"/>
                        </m:rPr>
                        <m:t>+</m:t>
                      </m:r>
                      <m:r>
                        <m:rPr>
                          <m:sty m:val="b"/>
                        </m:rPr>
                        <m:t>V</m:t>
                      </m:r>
                      <m:r>
                        <m:rPr>
                          <m:sty m:val="b"/>
                        </m:rPr>
                        <m:t>d</m:t>
                      </m:r>
                      <m:r>
                        <m:rPr>
                          <m:sty m:val="b"/>
                        </m:rPr>
                        <m:t>P</m:t>
                      </m:r>
                    </m:oMath>
                  </m:oMathPara>
                </a14:m>
              </a:p>
              <a:p>
                <a:pPr lvl="0"/>
                <a:r>
                  <a:rPr i="1"/>
                  <a:t>Natural variables: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T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P</m:t>
                        </m:r>
                      </m:e>
                    </m:d>
                  </m:oMath>
                </a14:m>
                <a:r>
                  <a:rPr/>
                  <a:t>. (Most useful for Chemical Engineers!)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Thermodynamic Square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Four Fundamental Potentials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now have four fundamental equations of state:</a:t>
                </a:r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r>
                      <m:t>d</m:t>
                    </m:r>
                    <m:r>
                      <m:t>U</m:t>
                    </m:r>
                    <m:r>
                      <m:rPr>
                        <m:sty m:val="p"/>
                      </m:rPr>
                      <m:t>=</m:t>
                    </m:r>
                    <m:r>
                      <m:t>T</m:t>
                    </m:r>
                    <m:r>
                      <m:t>d</m:t>
                    </m:r>
                    <m:r>
                      <m:t>S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P</m:t>
                    </m:r>
                    <m:r>
                      <m:t>d</m:t>
                    </m:r>
                    <m:r>
                      <m:t>V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r>
                      <m:t>d</m:t>
                    </m:r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T</m:t>
                    </m:r>
                    <m:r>
                      <m:t>d</m:t>
                    </m:r>
                    <m:r>
                      <m:t>S</m:t>
                    </m:r>
                    <m:r>
                      <m:rPr>
                        <m:sty m:val="p"/>
                      </m:rPr>
                      <m:t>+</m:t>
                    </m:r>
                    <m:r>
                      <m:t>V</m:t>
                    </m:r>
                    <m:r>
                      <m:t>d</m:t>
                    </m:r>
                    <m:r>
                      <m:t>P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r>
                      <m:t>d</m:t>
                    </m:r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d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P</m:t>
                    </m:r>
                    <m:r>
                      <m:t>d</m:t>
                    </m:r>
                    <m:r>
                      <m:t>V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r>
                      <m:t>d</m:t>
                    </m:r>
                    <m:r>
                      <m:t>G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d</m:t>
                    </m:r>
                    <m:r>
                      <m:t>T</m:t>
                    </m:r>
                    <m:r>
                      <m:rPr>
                        <m:sty m:val="p"/>
                      </m:rPr>
                      <m:t>+</m:t>
                    </m:r>
                    <m:r>
                      <m:t>V</m:t>
                    </m:r>
                    <m:r>
                      <m:t>d</m:t>
                    </m:r>
                    <m:r>
                      <m:t>P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Memorizing these and their signs is tedious. Let’s use a mnemonic device…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Thermodynamic Square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</a:t>
            </a:r>
            <a:r>
              <a:rPr/>
              <a:t>ery </a:t>
            </a:r>
            <a:r>
              <a:rPr b="1"/>
              <a:t>A</a:t>
            </a:r>
            <a:r>
              <a:rPr/>
              <a:t>wesome </a:t>
            </a:r>
            <a:r>
              <a:rPr b="1"/>
              <a:t>T</a:t>
            </a:r>
            <a:r>
              <a:rPr/>
              <a:t>hermodynamics </a:t>
            </a:r>
            <a:r>
              <a:rPr b="1"/>
              <a:t>U</a:t>
            </a:r>
            <a:r>
              <a:rPr/>
              <a:t>nder </a:t>
            </a:r>
            <a:r>
              <a:rPr b="1"/>
              <a:t>G</a:t>
            </a:r>
            <a:r>
              <a:rPr/>
              <a:t>raduate </a:t>
            </a:r>
            <a:r>
              <a:rPr b="1"/>
              <a:t>S</a:t>
            </a:r>
            <a:r>
              <a:rPr/>
              <a:t>tudents </a:t>
            </a:r>
            <a:r>
              <a:rPr b="1"/>
              <a:t>H</a:t>
            </a:r>
            <a:r>
              <a:rPr/>
              <a:t>elp </a:t>
            </a:r>
            <a:r>
              <a:rPr b="1"/>
              <a:t>P</a:t>
            </a:r>
            <a:r>
              <a:rPr/>
              <a:t>rofessors!</a:t>
            </a:r>
          </a:p>
        </p:txBody>
      </p:sp>
      <p:pic>
        <p:nvPicPr>
          <p:cNvPr descr="images/thermo-squ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19100"/>
            <a:ext cx="5105400" cy="342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Fig. 1: The thermodynamic square.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Arrows point from S to T, and from P to V.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Read the Square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find the differential for Helmholtz Free Energy (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A</m:t>
                    </m:r>
                  </m:oMath>
                </a14:m>
                <a:r>
                  <a:rPr/>
                  <a:t>):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Natural Variables:</a:t>
                </a:r>
                <a:r>
                  <a:rPr/>
                  <a:t> The two corners adjacent to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are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m:t>d</m:t>
                    </m:r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…</m:t>
                        </m:r>
                      </m:e>
                    </m:d>
                    <m:r>
                      <m:t>d</m:t>
                    </m:r>
                    <m:r>
                      <m:t>T</m:t>
                    </m:r>
                    <m:r>
                      <m:rPr>
                        <m:sty m:val="p"/>
                      </m:rPr>
                      <m:t>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…</m:t>
                        </m:r>
                      </m:e>
                    </m:d>
                    <m:r>
                      <m:t>d</m:t>
                    </m:r>
                    <m:r>
                      <m:t>V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Coefficients:</a:t>
                </a:r>
                <a:r>
                  <a:rPr/>
                  <a:t> Look across the square.</a:t>
                </a:r>
              </a:p>
              <a:p>
                <a:pPr lvl="1"/>
                <a:r>
                  <a:rPr/>
                  <a:t>Across from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is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Across from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is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Sign Rule:</a:t>
                </a:r>
                <a:r>
                  <a:rPr/>
                  <a:t> Move against arrow = negative. Move with arrow = positive.</a:t>
                </a:r>
              </a:p>
              <a:p>
                <a:pPr lvl="1"/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S</m:t>
                    </m:r>
                  </m:oMath>
                </a14:m>
                <a:r>
                  <a:rPr/>
                  <a:t> is </a:t>
                </a:r>
                <a:r>
                  <a:rPr i="1"/>
                  <a:t>against</a:t>
                </a:r>
                <a:r>
                  <a:rPr/>
                  <a:t> the arrow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</m:oMath>
                </a14:m>
                <a:r>
                  <a:rPr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P</m:t>
                    </m:r>
                  </m:oMath>
                </a14:m>
                <a:r>
                  <a:rPr/>
                  <a:t> is </a:t>
                </a:r>
                <a:r>
                  <a:rPr i="1"/>
                  <a:t>against</a:t>
                </a:r>
                <a:r>
                  <a:rPr/>
                  <a:t> the arrow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P</m:t>
                    </m:r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Result: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S</m:t>
                    </m:r>
                    <m:r>
                      <m:t>d</m:t>
                    </m:r>
                    <m:r>
                      <m:t>T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P</m:t>
                    </m:r>
                    <m:r>
                      <m:t>d</m:t>
                    </m:r>
                    <m:r>
                      <m:t>V</m:t>
                    </m:r>
                  </m:oMath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23: The Mathematics of Thermodynamics</dc:title>
  <dc:creator>CBE 20260 / Thermodynamics I</dc:creator>
  <cp:keywords/>
  <dcterms:created xsi:type="dcterms:W3CDTF">2026-09-22T18:22:55Z</dcterms:created>
  <dcterms:modified xsi:type="dcterms:W3CDTF">2026-09-22T18:22:55Z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crossref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resources">
    <vt:lpwstr/>
  </property>
  <property fmtid="{D5CDD505-2E9C-101B-9397-08002B2CF9AE}" pid="13" name="subtitle">
    <vt:lpwstr>Thermodynamic Potentials &amp; Legendre Transforms</vt:lpwstr>
  </property>
  <property fmtid="{D5CDD505-2E9C-101B-9397-08002B2CF9AE}" pid="14" name="toc-title">
    <vt:lpwstr>Table of contents</vt:lpwstr>
  </property>
</Properties>
</file>
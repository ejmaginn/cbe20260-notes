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20: Organic Rankine Cycle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Edward Maginn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Example: Data Center Waste Heat Recovery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evaluate an ORC designed to recover waste heat from a server farm. The hot exhaust air from the servers is used to boil a refrigerant, </a:t>
                </a:r>
                <a:r>
                  <a:rPr b="1"/>
                  <a:t>R-134a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Operating Conditions:</a:t>
                </a:r>
                <a:r>
                  <a:rPr/>
                  <a:t> * </a:t>
                </a:r>
                <a:r>
                  <a:rPr b="1"/>
                  <a:t>Boiler (evaporator):</a:t>
                </a:r>
                <a:r>
                  <a:rPr/>
                  <a:t> Operates at </a:t>
                </a:r>
                <a14:m>
                  <m:oMath xmlns:m="http://schemas.openxmlformats.org/officeDocument/2006/math">
                    <m:r>
                      <m:t>10</m:t>
                    </m:r>
                    <m:r>
                      <m:rPr>
                        <m:nor/>
                        <m:sty m:val="p"/>
                      </m:rPr>
                      <m:t> bar</m:t>
                    </m:r>
                  </m:oMath>
                </a14:m>
                <a:r>
                  <a:rPr/>
                  <a:t>. At this pressure, R-134a boils at approximately </a:t>
                </a:r>
                <a14:m>
                  <m:oMath xmlns:m="http://schemas.openxmlformats.org/officeDocument/2006/math">
                    <m:sSup>
                      <m:e>
                        <m:r>
                          <m:t>39.4</m:t>
                        </m:r>
                      </m:e>
                      <m:sup>
                        <m:r>
                          <m:rPr>
                            <m:sty m:val="p"/>
                          </m:rPr>
                          <m:t>∘</m:t>
                        </m:r>
                      </m:sup>
                    </m:sSup>
                    <m:r>
                      <m:rPr>
                        <m:nor/>
                        <m:sty m:val="p"/>
                      </m:rPr>
                      <m:t>C</m:t>
                    </m:r>
                  </m:oMath>
                </a14:m>
                <a:r>
                  <a:rPr/>
                  <a:t>, which is perfect for absorbing heat from </a:t>
                </a:r>
                <a14:m>
                  <m:oMath xmlns:m="http://schemas.openxmlformats.org/officeDocument/2006/math">
                    <m:sSup>
                      <m:e>
                        <m: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m:t>∘</m:t>
                        </m:r>
                      </m:sup>
                    </m:sSup>
                    <m:r>
                      <m:rPr>
                        <m:nor/>
                        <m:sty m:val="p"/>
                      </m:rPr>
                      <m:t>C</m:t>
                    </m:r>
                  </m:oMath>
                </a14:m>
                <a:r>
                  <a:rPr/>
                  <a:t> data center exhaust. Saturated vapor exits. * </a:t>
                </a:r>
                <a:r>
                  <a:rPr b="1"/>
                  <a:t>Condenser:</a:t>
                </a:r>
                <a:r>
                  <a:rPr/>
                  <a:t> Operates at </a:t>
                </a:r>
                <a14:m>
                  <m:oMath xmlns:m="http://schemas.openxmlformats.org/officeDocument/2006/math">
                    <m:r>
                      <m:t>5</m:t>
                    </m:r>
                    <m:r>
                      <m:rPr>
                        <m:nor/>
                        <m:sty m:val="p"/>
                      </m:rPr>
                      <m:t> bar</m:t>
                    </m:r>
                  </m:oMath>
                </a14:m>
                <a:r>
                  <a:rPr/>
                  <a:t>. Condenses at approximately </a:t>
                </a:r>
                <a14:m>
                  <m:oMath xmlns:m="http://schemas.openxmlformats.org/officeDocument/2006/math">
                    <m:sSup>
                      <m:e>
                        <m:r>
                          <m:t>15.7</m:t>
                        </m:r>
                      </m:e>
                      <m:sup>
                        <m:r>
                          <m:rPr>
                            <m:sty m:val="p"/>
                          </m:rPr>
                          <m:t>∘</m:t>
                        </m:r>
                      </m:sup>
                    </m:sSup>
                    <m:r>
                      <m:rPr>
                        <m:nor/>
                        <m:sty m:val="p"/>
                      </m:rPr>
                      <m:t>C</m:t>
                    </m:r>
                  </m:oMath>
                </a14:m>
                <a:r>
                  <a:rPr/>
                  <a:t>, allowing heat rejection to cooling water. Saturated liquid exits. * </a:t>
                </a:r>
                <a:r>
                  <a:rPr b="1"/>
                  <a:t>Ideal Components:</a:t>
                </a:r>
                <a:r>
                  <a:rPr/>
                  <a:t> For simplicity, assume the turbine and pump are perfectly reversible (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1.0</m:t>
                    </m:r>
                  </m:oMath>
                </a14:m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Cycle Analysis: Turbine Expansion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use the R-134a thermodynamic tables to find the states:</a:t>
                </a:r>
              </a:p>
              <a:p>
                <a:pPr lvl="0"/>
                <a:r>
                  <a:rPr b="1"/>
                  <a:t>State 2 (Boiler Out / Turbine In):</a:t>
                </a:r>
                <a:r>
                  <a:rPr/>
                  <a:t> Sat. Vapor at </a:t>
                </a:r>
                <a14:m>
                  <m:oMath xmlns:m="http://schemas.openxmlformats.org/officeDocument/2006/math">
                    <m:r>
                      <m:t>10</m:t>
                    </m:r>
                    <m:r>
                      <m:rPr>
                        <m:nor/>
                        <m:sty m:val="p"/>
                      </m:rPr>
                      <m:t> bar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271.0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0.910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nor/>
                        <m:sty m:val="p"/>
                      </m:rPr>
                      <m:t>K</m:t>
                    </m:r>
                  </m:oMath>
                </a14:m>
              </a:p>
              <a:p>
                <a:pPr lvl="0"/>
                <a:r>
                  <a:rPr b="1"/>
                  <a:t>State 3 (Turbine Out / Condenser In):</a:t>
                </a:r>
                <a:r>
                  <a:rPr/>
                  <a:t> Isentropic expansion to </a:t>
                </a:r>
                <a14:m>
                  <m:oMath xmlns:m="http://schemas.openxmlformats.org/officeDocument/2006/math">
                    <m:r>
                      <m:t>5</m:t>
                    </m:r>
                    <m:r>
                      <m:rPr>
                        <m:nor/>
                        <m:sty m:val="p"/>
                      </m:rPr>
                      <m:t> bar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0.910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nor/>
                        <m:sty m:val="p"/>
                      </m:rPr>
                      <m:t>K</m:t>
                    </m:r>
                  </m:oMath>
                </a14:m>
              </a:p>
              <a:p>
                <a:pPr lvl="1"/>
                <a:r>
                  <a:rPr i="1"/>
                  <a:t>(From tables at 5 bar, this entropy is slightly inside the vapor dome,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0.98</m:t>
                    </m:r>
                  </m:oMath>
                </a14:m>
                <a:r>
                  <a:rPr i="1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260.0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:r>
                  <a:rPr b="1"/>
                  <a:t>Turbine Work: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t</m:t>
                        </m:r>
                        <m:r>
                          <m:t>u</m:t>
                        </m:r>
                        <m:r>
                          <m:t>r</m:t>
                        </m:r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271.0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260.0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b"/>
                      </m:rPr>
                      <m:t>+</m:t>
                    </m:r>
                    <m:r>
                      <m:rPr>
                        <m:sty m:val="b"/>
                      </m:rPr>
                      <m:t>11.0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Cycle Analysis: Pumping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State 4 (Condenser Out / Pump In):</a:t>
                </a:r>
                <a:r>
                  <a:rPr/>
                  <a:t> Sat. Liquid at </a:t>
                </a:r>
                <a14:m>
                  <m:oMath xmlns:m="http://schemas.openxmlformats.org/officeDocument/2006/math">
                    <m:r>
                      <m:t>5</m:t>
                    </m:r>
                    <m:r>
                      <m:rPr>
                        <m:nor/>
                        <m:sty m:val="p"/>
                      </m:rPr>
                      <m:t> bar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71.0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V</m:t>
                            </m:r>
                          </m:e>
                        </m:acc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0.0008</m:t>
                    </m:r>
                    <m:sSup>
                      <m:e>
                        <m:r>
                          <m:rPr>
                            <m:nor/>
                            <m:sty m:val="p"/>
                          </m:rPr>
                          <m:t> 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rPr>
                        <m:nor/>
                        <m:sty m:val="p"/>
                      </m:rPr>
                      <m:t>kg</m:t>
                    </m:r>
                  </m:oMath>
                </a14:m>
              </a:p>
              <a:p>
                <a:pPr lvl="0"/>
                <a:r>
                  <a:rPr b="1"/>
                  <a:t>State 1 (Pump Out / Boiler In):</a:t>
                </a:r>
                <a:r>
                  <a:rPr/>
                  <a:t> Pumped to </a:t>
                </a:r>
                <a14:m>
                  <m:oMath xmlns:m="http://schemas.openxmlformats.org/officeDocument/2006/math">
                    <m:r>
                      <m:t>10</m:t>
                    </m:r>
                    <m:r>
                      <m:rPr>
                        <m:nor/>
                        <m:sty m:val="p"/>
                      </m:rPr>
                      <m:t> bar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p</m:t>
                        </m:r>
                        <m:r>
                          <m:t>u</m:t>
                        </m:r>
                        <m:r>
                          <m:t>m</m:t>
                        </m:r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V</m:t>
                            </m:r>
                          </m:e>
                        </m:acc>
                      </m:e>
                      <m:sub>
                        <m:r>
                          <m:t>4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b</m:t>
                            </m:r>
                            <m:r>
                              <m:t>o</m:t>
                            </m:r>
                            <m:r>
                              <m:t>i</m:t>
                            </m:r>
                            <m:r>
                              <m:t>l</m:t>
                            </m:r>
                            <m:r>
                              <m:t>e</m:t>
                            </m:r>
                            <m: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c</m:t>
                            </m:r>
                            <m:r>
                              <m:t>o</m:t>
                            </m:r>
                            <m:r>
                              <m:t>n</m:t>
                            </m:r>
                            <m:r>
                              <m:t>d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p</m:t>
                        </m:r>
                        <m:r>
                          <m:t>u</m:t>
                        </m:r>
                        <m:r>
                          <m:t>m</m:t>
                        </m:r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0.0008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10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m:t>×</m:t>
                    </m:r>
                    <m:r>
                      <m:t>100</m:t>
                    </m:r>
                    <m:r>
                      <m:rPr>
                        <m:sty m:val="p"/>
                      </m:rPr>
                      <m:t>≈</m:t>
                    </m:r>
                    <m:r>
                      <m:rPr>
                        <m:sty m:val="b"/>
                      </m:rPr>
                      <m:t>+</m:t>
                    </m:r>
                    <m:r>
                      <m:rPr>
                        <m:sty m:val="b"/>
                      </m:rPr>
                      <m:t>0.4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p</m:t>
                        </m:r>
                        <m:r>
                          <m:t>u</m:t>
                        </m:r>
                        <m:r>
                          <m:t>m</m:t>
                        </m:r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71.0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0.4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b"/>
                      </m:rPr>
                      <m:t>71.4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Efficiency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Net Work: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n</m:t>
                          </m:r>
                          <m:r>
                            <m:t>e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t</m:t>
                          </m:r>
                          <m:r>
                            <m:t>u</m:t>
                          </m:r>
                          <m:r>
                            <m:t>r</m:t>
                          </m:r>
                          <m: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p</m:t>
                          </m:r>
                          <m:r>
                            <m:t>u</m:t>
                          </m:r>
                          <m:r>
                            <m:t>m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11.0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0.4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b"/>
                        </m:rPr>
                        <m:t>−</m:t>
                      </m:r>
                      <m:r>
                        <m:rPr>
                          <m:sty m:val="b"/>
                        </m:rPr>
                        <m:t>10.6</m:t>
                      </m:r>
                      <m:r>
                        <m:rPr>
                          <m:nor/>
                          <m:sty m:val="p"/>
                        </m:rPr>
                        <m:t> kJ/kg</m:t>
                      </m:r>
                    </m:oMath>
                  </m:oMathPara>
                </a14:m>
              </a:p>
              <a:p>
                <a:pPr lvl="0"/>
                <a:r>
                  <a:rPr b="1"/>
                  <a:t>Heat Added: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271.0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71.4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b"/>
                        </m:rPr>
                        <m:t>+</m:t>
                      </m:r>
                      <m:r>
                        <m:rPr>
                          <m:sty m:val="b"/>
                        </m:rPr>
                        <m:t>199.6</m:t>
                      </m:r>
                      <m:r>
                        <m:rPr>
                          <m:nor/>
                          <m:sty m:val="p"/>
                        </m:rPr>
                        <m:t> kJ/kg</m:t>
                      </m:r>
                    </m:oMath>
                  </m:oMathPara>
                </a14:m>
              </a:p>
              <a:p>
                <a:pPr lvl="0"/>
                <a:r>
                  <a:rPr b="1"/>
                  <a:t>Thermal Efficiency: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η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10.6</m:t>
                          </m:r>
                        </m:num>
                        <m:den>
                          <m:r>
                            <m:t>199.6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b"/>
                        </m:rPr>
                        <m:t>0.053</m:t>
                      </m:r>
                      <m:r>
                        <m:rPr>
                          <m:sty m:val="p"/>
                        </m:rPr>
                        <m:t>⟹</m:t>
                      </m:r>
                      <m:r>
                        <m:rPr>
                          <m:sty m:val="b"/>
                        </m:rPr>
                        <m:t>5.3</m:t>
                      </m:r>
                      <m:r>
                        <m:rPr>
                          <m:sty m:val="b"/>
                        </m:rPr>
                        <m:t>%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Is 5.3% terrible?</a:t>
                </a:r>
                <a:r>
                  <a:rPr/>
                  <a:t> Not necessarily! The Carnot efficiency for these temperatures (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39.4</m:t>
                        </m:r>
                      </m:e>
                      <m:sup>
                        <m:r>
                          <m:rPr>
                            <m:sty m:val="p"/>
                          </m:rPr>
                          <m:t>∘</m:t>
                        </m:r>
                      </m:sup>
                    </m:sSup>
                    <m:r>
                      <m:rPr>
                        <m:nor/>
                        <m:sty m:val="p"/>
                      </m:rP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312.5</m:t>
                    </m:r>
                    <m:r>
                      <m:rPr>
                        <m:nor/>
                        <m:sty m:val="p"/>
                      </m:rPr>
                      <m:t> K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15.7</m:t>
                        </m:r>
                      </m:e>
                      <m:sup>
                        <m:r>
                          <m:rPr>
                            <m:sty m:val="p"/>
                          </m:rPr>
                          <m:t>∘</m:t>
                        </m:r>
                      </m:sup>
                    </m:sSup>
                    <m:r>
                      <m:rPr>
                        <m:nor/>
                        <m:sty m:val="p"/>
                      </m:rP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288.8</m:t>
                    </m:r>
                    <m:r>
                      <m:rPr>
                        <m:nor/>
                        <m:sty m:val="p"/>
                      </m:rPr>
                      <m:t> K</m:t>
                    </m:r>
                  </m:oMath>
                </a14:m>
                <a:r>
                  <a:rPr/>
                  <a:t>) is only </a:t>
                </a:r>
                <a14:m>
                  <m:oMath xmlns:m="http://schemas.openxmlformats.org/officeDocument/2006/math">
                    <m:sSub>
                      <m:e>
                        <m:r>
                          <m:t>η</m:t>
                        </m:r>
                      </m:e>
                      <m:sub>
                        <m:r>
                          <m:t>m</m:t>
                        </m:r>
                        <m:r>
                          <m:t>a</m:t>
                        </m:r>
                        <m:r>
                          <m:t>x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288.8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312.5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7.6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. We are getting free power out of heat that would otherwise just be vented into the atmosphere!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20: Organic Rankine Cycle Example</dc:title>
  <dc:creator>Edward Maginn</dc:creator>
  <cp:keywords/>
  <dcterms:created xsi:type="dcterms:W3CDTF">2026-09-22T18:22:25Z</dcterms:created>
  <dcterms:modified xsi:type="dcterms:W3CDTF">2026-09-22T18:22:25Z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rossref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resources">
    <vt:lpwstr/>
  </property>
  <property fmtid="{D5CDD505-2E9C-101B-9397-08002B2CF9AE}" pid="12" name="toc-title">
    <vt:lpwstr>Table of contents</vt:lpwstr>
  </property>
</Properties>
</file>
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7" r:id="rId4"/>
    <p:sldId id="309" r:id="rId5"/>
    <p:sldId id="310" r:id="rId6"/>
    <p:sldId id="31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E259-4687-D6FF-6603-52A3EE478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0E800-1D8B-5502-6E69-F99517E08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74878-76D1-34D7-A87A-F8C29FE9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CE63D-88B0-DAAC-C979-D2F8211C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CED5-0534-546A-F039-FC5D3319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F34D-AE38-2117-A480-020B88D6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2487A-B290-F31F-98D3-31622B089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CABC5-390A-25DE-E316-77F7E34E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3EF36-EFC5-9179-6F43-FF873553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48AD5-A207-4187-3B60-96738190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3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7F44-9AB1-35EC-2B86-C7EEAD61C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7FD32-854B-9EB7-4714-F35B5EB76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D2EB0-6D77-E282-CD6B-622150C2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0445E-9BC0-EA04-3230-5F34A65F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DC462-E35F-CA26-97F9-1383FACC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3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ABD2-BF2A-544D-F193-D4FF2D48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8D45-4851-50B5-7E30-0BE8393FF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C19C2-D1E7-2E34-707C-F1422B39B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681C8-1CA4-DEFA-D347-036F5CBF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35505-6C59-9A1C-5EFE-BE74E907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87219-37FB-EB0A-3549-DF9AA034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0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0A4C-1107-982D-3A76-17996D6A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E824E-A3D2-871F-F466-AAA4FE2AA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5B8CC-18B8-5ADB-9F78-7A888D9B9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946B9-E38B-1C2E-5F9B-593802EC1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3FACB-53CE-3C91-220D-989B89B33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84BD4-D47F-1650-81BC-7BE0329B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0DA7EC-593A-88F3-E2AB-C575C81F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65324-B932-7820-46E9-F03F0A23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5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2D7F-1090-F234-4972-1AE3F7E3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B728C-1140-7B39-90BF-95B6F4F8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CF48F-22FD-4EA5-20D3-D6908D8E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47A36-A89F-B6C2-F3B6-58E3AD5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543F7-63C8-486F-9DC6-0C0C525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5FAE7-053D-1E5F-C21D-37E12577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92329-C626-5DFA-C49F-C437B738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0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C373-C45D-2106-389B-4C8E567B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6E6C-1F14-BB33-204B-D9ADC2C57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CD70B-5F30-B041-85E7-BA69D9D1B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C5B83-B170-221D-E0AF-E3B9409A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77D72-2D00-6616-FC0D-6C5758CB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AB6B7-9BCE-549E-EE36-46734112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0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A125-FFB7-F9A6-2290-1A38189D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0E671-5CAB-8BFE-04CB-0F5F47247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AA54A-6BB5-0AD9-2ED9-B0D25D3BE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FBCD3-BAA2-713E-53C0-F8ED0FD4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BF7E9-CF6A-5D74-BB76-66B8B504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20C23-F011-C06E-97C8-4D6B7453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CEF3-43B6-32CF-BCF1-224A46EF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E0424-C405-81ED-592B-5F870CA1E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681B5-D328-6254-480F-F2FC2DC5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08A95-06D8-D1A4-1282-CE1BA4DD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2DA7-8A96-822D-8FBC-FA500A23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4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73958-A221-A2AB-DB72-78F38EFE9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C2483-EC37-5DE2-2F16-0BBA116E8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7617C-849E-237D-9D12-5E307D8BE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8E103-DE0D-4639-B546-BB6B579A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834B-694E-E3D8-0211-9A6F8768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6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FB8E8-D197-6BD9-30CA-D27F5379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BAEF-439F-BE6A-AE8F-2C5AC7A37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F4E75-D6DC-9F43-6430-1792DCB79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2EBA9-A425-D741-8763-A0F25ED0F8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2C66F-1796-D3FC-B14E-E09590C9A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74EBD-5FF7-5D13-9C03-38C820D00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0BC73-B9D8-CE49-ADA5-0A77BBE9B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6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7BE3-F911-CA4A-8B4D-F9247F3D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001"/>
          </a:xfrm>
        </p:spPr>
        <p:txBody>
          <a:bodyPr/>
          <a:lstStyle/>
          <a:p>
            <a:r>
              <a:rPr lang="en-US" dirty="0"/>
              <a:t>Flow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CB9A9A-BBD0-C842-86D4-D399C0859B8B}"/>
              </a:ext>
            </a:extLst>
          </p:cNvPr>
          <p:cNvSpPr txBox="1"/>
          <p:nvPr/>
        </p:nvSpPr>
        <p:spPr>
          <a:xfrm>
            <a:off x="1896604" y="3728850"/>
            <a:ext cx="77544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Fluids flowing in pipes experience a pressure drop due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viscous and frictional losses.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overcome these losses, a pump is used to supply work?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flow work associated with fluid flow?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A405A7-18BA-B572-A49E-43D49EA33C5E}"/>
              </a:ext>
            </a:extLst>
          </p:cNvPr>
          <p:cNvGrpSpPr/>
          <p:nvPr/>
        </p:nvGrpSpPr>
        <p:grpSpPr>
          <a:xfrm>
            <a:off x="1230489" y="1188155"/>
            <a:ext cx="9411062" cy="1879947"/>
            <a:chOff x="1230489" y="1188155"/>
            <a:chExt cx="9411062" cy="187994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3FF18F8-D5E8-D342-86F0-7DCF9E7F060C}"/>
                </a:ext>
              </a:extLst>
            </p:cNvPr>
            <p:cNvCxnSpPr/>
            <p:nvPr/>
          </p:nvCxnSpPr>
          <p:spPr>
            <a:xfrm rot="5400000" flipH="1" flipV="1">
              <a:off x="2546252" y="1396936"/>
              <a:ext cx="417763" cy="12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83A9F9E-578E-2644-9A47-AAB8A9D17D20}"/>
                </a:ext>
              </a:extLst>
            </p:cNvPr>
            <p:cNvCxnSpPr/>
            <p:nvPr/>
          </p:nvCxnSpPr>
          <p:spPr>
            <a:xfrm rot="5400000" flipH="1" flipV="1">
              <a:off x="8052345" y="1396392"/>
              <a:ext cx="417763" cy="12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891A76E-E58E-0B47-8870-02758B3A111C}"/>
                </a:ext>
              </a:extLst>
            </p:cNvPr>
            <p:cNvCxnSpPr/>
            <p:nvPr/>
          </p:nvCxnSpPr>
          <p:spPr>
            <a:xfrm flipH="1">
              <a:off x="2755134" y="1397036"/>
              <a:ext cx="433013" cy="10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ABC7AFB-97AA-3B46-BF70-FFFE1254E1A4}"/>
                </a:ext>
              </a:extLst>
            </p:cNvPr>
            <p:cNvCxnSpPr/>
            <p:nvPr/>
          </p:nvCxnSpPr>
          <p:spPr>
            <a:xfrm>
              <a:off x="7827569" y="1397036"/>
              <a:ext cx="433013" cy="10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E5457E-B80B-BD48-8A4D-ACCA5555C9A8}"/>
                </a:ext>
              </a:extLst>
            </p:cNvPr>
            <p:cNvSpPr txBox="1"/>
            <p:nvPr/>
          </p:nvSpPr>
          <p:spPr>
            <a:xfrm>
              <a:off x="5105774" y="1292596"/>
              <a:ext cx="136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 m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28ECCA-06C9-B549-86D5-1D3BB026896B}"/>
                </a:ext>
              </a:extLst>
            </p:cNvPr>
            <p:cNvCxnSpPr/>
            <p:nvPr/>
          </p:nvCxnSpPr>
          <p:spPr>
            <a:xfrm>
              <a:off x="3188146" y="1397036"/>
              <a:ext cx="1793910" cy="10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D03F49-8D9D-5640-97E8-42629D03B79E}"/>
                </a:ext>
              </a:extLst>
            </p:cNvPr>
            <p:cNvCxnSpPr/>
            <p:nvPr/>
          </p:nvCxnSpPr>
          <p:spPr>
            <a:xfrm rot="10800000">
              <a:off x="5538787" y="1397036"/>
              <a:ext cx="2288782" cy="10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EABDA2-DC19-1E4D-B9C9-E0A60485F6DC}"/>
                </a:ext>
              </a:extLst>
            </p:cNvPr>
            <p:cNvCxnSpPr/>
            <p:nvPr/>
          </p:nvCxnSpPr>
          <p:spPr>
            <a:xfrm>
              <a:off x="8384299" y="1710358"/>
              <a:ext cx="556731" cy="10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95A77B-3C06-AB49-A6C8-DC67C649EAF9}"/>
                </a:ext>
              </a:extLst>
            </p:cNvPr>
            <p:cNvCxnSpPr/>
            <p:nvPr/>
          </p:nvCxnSpPr>
          <p:spPr>
            <a:xfrm>
              <a:off x="8384299" y="3015867"/>
              <a:ext cx="556731" cy="10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39F3E8-37A5-E34D-B049-D6209282C31C}"/>
                </a:ext>
              </a:extLst>
            </p:cNvPr>
            <p:cNvSpPr txBox="1"/>
            <p:nvPr/>
          </p:nvSpPr>
          <p:spPr>
            <a:xfrm>
              <a:off x="8393289" y="2102555"/>
              <a:ext cx="741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 cm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4AFEA15-0F9D-F943-A6D6-A0CDCD6A05D7}"/>
                </a:ext>
              </a:extLst>
            </p:cNvPr>
            <p:cNvCxnSpPr/>
            <p:nvPr/>
          </p:nvCxnSpPr>
          <p:spPr>
            <a:xfrm rot="5400000">
              <a:off x="8458603" y="2780775"/>
              <a:ext cx="469983" cy="12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9926597-EBA1-3A47-B0E1-D5DBCC7684DE}"/>
                </a:ext>
              </a:extLst>
            </p:cNvPr>
            <p:cNvCxnSpPr/>
            <p:nvPr/>
          </p:nvCxnSpPr>
          <p:spPr>
            <a:xfrm rot="5400000" flipH="1" flipV="1">
              <a:off x="8458603" y="1945249"/>
              <a:ext cx="469983" cy="12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540655-5055-4A4C-B537-5D77FC951014}"/>
                </a:ext>
              </a:extLst>
            </p:cNvPr>
            <p:cNvSpPr txBox="1"/>
            <p:nvPr/>
          </p:nvSpPr>
          <p:spPr>
            <a:xfrm>
              <a:off x="1230489" y="1721555"/>
              <a:ext cx="1676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Water 100kg/min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T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in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= 300 K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P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in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= 300 kPa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325EA0-273E-1C48-81F8-4F8AF13EDFAE}"/>
                </a:ext>
              </a:extLst>
            </p:cNvPr>
            <p:cNvSpPr txBox="1"/>
            <p:nvPr/>
          </p:nvSpPr>
          <p:spPr>
            <a:xfrm>
              <a:off x="8926688" y="1721555"/>
              <a:ext cx="17148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Water 100kg/min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T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out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= 300 K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P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out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= 290 kPa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C1169D-1DD5-F445-8B9B-7C45DCC7AEAC}"/>
                </a:ext>
              </a:extLst>
            </p:cNvPr>
            <p:cNvSpPr/>
            <p:nvPr/>
          </p:nvSpPr>
          <p:spPr>
            <a:xfrm>
              <a:off x="8164689" y="2038023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7190926-DC69-7E44-93BC-14C6646808D7}"/>
                </a:ext>
              </a:extLst>
            </p:cNvPr>
            <p:cNvCxnSpPr/>
            <p:nvPr/>
          </p:nvCxnSpPr>
          <p:spPr>
            <a:xfrm>
              <a:off x="2754489" y="1671323"/>
              <a:ext cx="5507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AAD756-9474-F249-AE51-127DA60AC536}"/>
                </a:ext>
              </a:extLst>
            </p:cNvPr>
            <p:cNvSpPr/>
            <p:nvPr/>
          </p:nvSpPr>
          <p:spPr>
            <a:xfrm>
              <a:off x="2755778" y="1721555"/>
              <a:ext cx="5506093" cy="12943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376C54D-1450-704E-A4B5-9AF4A8A2E196}"/>
                </a:ext>
              </a:extLst>
            </p:cNvPr>
            <p:cNvCxnSpPr/>
            <p:nvPr/>
          </p:nvCxnSpPr>
          <p:spPr>
            <a:xfrm>
              <a:off x="2756947" y="3068102"/>
              <a:ext cx="5507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539BA7-084A-4845-9989-06236CFD6E16}"/>
                </a:ext>
              </a:extLst>
            </p:cNvPr>
            <p:cNvSpPr/>
            <p:nvPr/>
          </p:nvSpPr>
          <p:spPr>
            <a:xfrm>
              <a:off x="2496199" y="2026355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197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7BE3-F911-CA4A-8B4D-F9247F3D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work – fluid entering a pipe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015272-151C-FAC2-C6D2-F9851F44444E}"/>
              </a:ext>
            </a:extLst>
          </p:cNvPr>
          <p:cNvGrpSpPr/>
          <p:nvPr/>
        </p:nvGrpSpPr>
        <p:grpSpPr>
          <a:xfrm>
            <a:off x="208186" y="1508192"/>
            <a:ext cx="8345160" cy="3841616"/>
            <a:chOff x="208186" y="1508192"/>
            <a:chExt cx="8345160" cy="38416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EEB318A-80F7-9D7E-B49D-06EFEC756B44}"/>
                </a:ext>
              </a:extLst>
            </p:cNvPr>
            <p:cNvGrpSpPr/>
            <p:nvPr/>
          </p:nvGrpSpPr>
          <p:grpSpPr>
            <a:xfrm>
              <a:off x="927515" y="1508192"/>
              <a:ext cx="7625831" cy="3841616"/>
              <a:chOff x="949548" y="1546578"/>
              <a:chExt cx="7625831" cy="384161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C1169D-1DD5-F445-8B9B-7C45DCC7AEAC}"/>
                  </a:ext>
                </a:extLst>
              </p:cNvPr>
              <p:cNvSpPr/>
              <p:nvPr/>
            </p:nvSpPr>
            <p:spPr>
              <a:xfrm>
                <a:off x="8164689" y="2038023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7190926-DC69-7E44-93BC-14C6646808D7}"/>
                  </a:ext>
                </a:extLst>
              </p:cNvPr>
              <p:cNvCxnSpPr/>
              <p:nvPr/>
            </p:nvCxnSpPr>
            <p:spPr>
              <a:xfrm>
                <a:off x="2754489" y="1671323"/>
                <a:ext cx="5507382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0AAD756-9474-F249-AE51-127DA60AC536}"/>
                  </a:ext>
                </a:extLst>
              </p:cNvPr>
              <p:cNvSpPr/>
              <p:nvPr/>
            </p:nvSpPr>
            <p:spPr>
              <a:xfrm>
                <a:off x="2755778" y="1721555"/>
                <a:ext cx="5506093" cy="129431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376C54D-1450-704E-A4B5-9AF4A8A2E196}"/>
                  </a:ext>
                </a:extLst>
              </p:cNvPr>
              <p:cNvCxnSpPr/>
              <p:nvPr/>
            </p:nvCxnSpPr>
            <p:spPr>
              <a:xfrm>
                <a:off x="2756947" y="3068102"/>
                <a:ext cx="5507382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1539BA7-084A-4845-9989-06236CFD6E16}"/>
                  </a:ext>
                </a:extLst>
              </p:cNvPr>
              <p:cNvSpPr/>
              <p:nvPr/>
            </p:nvSpPr>
            <p:spPr>
              <a:xfrm>
                <a:off x="2677466" y="2190879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8D3E043-2D22-0344-A5D5-E490055399BE}"/>
                  </a:ext>
                </a:extLst>
              </p:cNvPr>
              <p:cNvSpPr/>
              <p:nvPr/>
            </p:nvSpPr>
            <p:spPr>
              <a:xfrm>
                <a:off x="2252290" y="1731756"/>
                <a:ext cx="305147" cy="12115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Left Arrow 23">
                <a:extLst>
                  <a:ext uri="{FF2B5EF4-FFF2-40B4-BE49-F238E27FC236}">
                    <a16:creationId xmlns:a16="http://schemas.microsoft.com/office/drawing/2014/main" id="{D55A67ED-81B0-8446-88C9-250A60DBD01C}"/>
                  </a:ext>
                </a:extLst>
              </p:cNvPr>
              <p:cNvSpPr/>
              <p:nvPr/>
            </p:nvSpPr>
            <p:spPr>
              <a:xfrm rot="10800000">
                <a:off x="1166954" y="2337519"/>
                <a:ext cx="863096" cy="113733"/>
              </a:xfrm>
              <a:prstGeom prst="lef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38B3E-7780-8A49-A06C-3A420B1BB466}"/>
                  </a:ext>
                </a:extLst>
              </p:cNvPr>
              <p:cNvSpPr txBox="1"/>
              <p:nvPr/>
            </p:nvSpPr>
            <p:spPr>
              <a:xfrm>
                <a:off x="949548" y="1959067"/>
                <a:ext cx="1380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</a:t>
                </a:r>
                <a:r>
                  <a:rPr lang="en-US" baseline="-25000" dirty="0"/>
                  <a:t>E</a:t>
                </a:r>
                <a:r>
                  <a:rPr lang="en-US" dirty="0"/>
                  <a:t> = P</a:t>
                </a:r>
                <a:r>
                  <a:rPr lang="en-US" baseline="-25000" dirty="0"/>
                  <a:t>in</a:t>
                </a:r>
                <a:r>
                  <a:rPr lang="en-US" dirty="0"/>
                  <a:t>*A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83FD60-0F92-7F4D-9586-0F81A30F034D}"/>
                  </a:ext>
                </a:extLst>
              </p:cNvPr>
              <p:cNvSpPr txBox="1"/>
              <p:nvPr/>
            </p:nvSpPr>
            <p:spPr>
              <a:xfrm>
                <a:off x="1771298" y="3168820"/>
                <a:ext cx="12671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dx = </a:t>
                </a:r>
                <a:r>
                  <a:rPr lang="en-US" dirty="0" err="1"/>
                  <a:t>dV</a:t>
                </a:r>
                <a:r>
                  <a:rPr lang="en-US" dirty="0"/>
                  <a:t>/A 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80FF74D-EEA8-F649-921F-E1013A421F6B}"/>
                  </a:ext>
                </a:extLst>
              </p:cNvPr>
              <p:cNvSpPr/>
              <p:nvPr/>
            </p:nvSpPr>
            <p:spPr>
              <a:xfrm>
                <a:off x="8163400" y="4246385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A517FAE-217E-A345-BB0A-EC2E799B5D65}"/>
                  </a:ext>
                </a:extLst>
              </p:cNvPr>
              <p:cNvCxnSpPr/>
              <p:nvPr/>
            </p:nvCxnSpPr>
            <p:spPr>
              <a:xfrm>
                <a:off x="2753200" y="3879685"/>
                <a:ext cx="5507382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8CB5D68-F719-5744-BE3F-33402D4D609B}"/>
                  </a:ext>
                </a:extLst>
              </p:cNvPr>
              <p:cNvSpPr/>
              <p:nvPr/>
            </p:nvSpPr>
            <p:spPr>
              <a:xfrm>
                <a:off x="2754489" y="3929917"/>
                <a:ext cx="5506093" cy="1294312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D18D5D2-E14D-2745-B7F5-403AB55AAE4D}"/>
                  </a:ext>
                </a:extLst>
              </p:cNvPr>
              <p:cNvCxnSpPr/>
              <p:nvPr/>
            </p:nvCxnSpPr>
            <p:spPr>
              <a:xfrm>
                <a:off x="2755658" y="5276464"/>
                <a:ext cx="5507382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0EA38C9-A291-8140-A153-4E3946DA58F2}"/>
                  </a:ext>
                </a:extLst>
              </p:cNvPr>
              <p:cNvSpPr/>
              <p:nvPr/>
            </p:nvSpPr>
            <p:spPr>
              <a:xfrm>
                <a:off x="2330381" y="4392407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40CFF0E5-50DB-AD4A-AB2D-611DC60B87B7}"/>
                  </a:ext>
                </a:extLst>
              </p:cNvPr>
              <p:cNvCxnSpPr/>
              <p:nvPr/>
            </p:nvCxnSpPr>
            <p:spPr>
              <a:xfrm>
                <a:off x="2252290" y="1546578"/>
                <a:ext cx="0" cy="162224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14FEB07A-E975-544E-A157-C237F43788BF}"/>
                  </a:ext>
                </a:extLst>
              </p:cNvPr>
              <p:cNvCxnSpPr/>
              <p:nvPr/>
            </p:nvCxnSpPr>
            <p:spPr>
              <a:xfrm>
                <a:off x="2741071" y="3765952"/>
                <a:ext cx="0" cy="162224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21E32C7-B161-E64E-9BAB-1516F4CEEBB8}"/>
                  </a:ext>
                </a:extLst>
              </p:cNvPr>
              <p:cNvSpPr txBox="1"/>
              <p:nvPr/>
            </p:nvSpPr>
            <p:spPr>
              <a:xfrm>
                <a:off x="4355076" y="4115408"/>
                <a:ext cx="128743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fluid element enters pipe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987115-4669-DFA1-62A9-F3C244DB74A9}"/>
                </a:ext>
              </a:extLst>
            </p:cNvPr>
            <p:cNvSpPr/>
            <p:nvPr/>
          </p:nvSpPr>
          <p:spPr>
            <a:xfrm>
              <a:off x="2783009" y="3957664"/>
              <a:ext cx="305147" cy="12115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46C7A2-62EA-8033-60AE-5F1D130CDFD1}"/>
                </a:ext>
              </a:extLst>
            </p:cNvPr>
            <p:cNvSpPr txBox="1"/>
            <p:nvPr/>
          </p:nvSpPr>
          <p:spPr>
            <a:xfrm>
              <a:off x="208186" y="2442966"/>
              <a:ext cx="187346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Fluid behind “pushes” the slug in</a:t>
              </a:r>
            </a:p>
            <a:p>
              <a:endParaRPr lang="en-US" dirty="0"/>
            </a:p>
            <a:p>
              <a:r>
                <a:rPr lang="en-US" dirty="0"/>
                <a:t>F</a:t>
              </a:r>
              <a:r>
                <a:rPr lang="en-US" baseline="-25000" dirty="0"/>
                <a:t>E</a:t>
              </a:r>
              <a:r>
                <a:rPr lang="en-US" dirty="0"/>
                <a:t> is + 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531827D-1FFD-3F19-8C7E-BC421102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20" y="5603482"/>
            <a:ext cx="7772400" cy="889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B8CBAC-AD64-272D-2165-A659306D964D}"/>
              </a:ext>
            </a:extLst>
          </p:cNvPr>
          <p:cNvSpPr txBox="1"/>
          <p:nvPr/>
        </p:nvSpPr>
        <p:spPr>
          <a:xfrm>
            <a:off x="9024421" y="5359114"/>
            <a:ext cx="2329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</a:t>
            </a:r>
            <a:r>
              <a:rPr lang="en-US" baseline="-25000" dirty="0"/>
              <a:t>in</a:t>
            </a:r>
            <a:r>
              <a:rPr lang="en-US" dirty="0"/>
              <a:t> &gt;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do work on the fluid element for it to enter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6BFEB5-B8F9-7B2A-A254-D3A69D3F1880}"/>
              </a:ext>
            </a:extLst>
          </p:cNvPr>
          <p:cNvSpPr/>
          <p:nvPr/>
        </p:nvSpPr>
        <p:spPr>
          <a:xfrm>
            <a:off x="9024420" y="5238077"/>
            <a:ext cx="2411083" cy="1398529"/>
          </a:xfrm>
          <a:prstGeom prst="rect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95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7BE3-F911-CA4A-8B4D-F9247F3D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work – fluid leaving a pipe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57CB84-752E-039A-4E40-5E52283C4259}"/>
              </a:ext>
            </a:extLst>
          </p:cNvPr>
          <p:cNvGrpSpPr/>
          <p:nvPr/>
        </p:nvGrpSpPr>
        <p:grpSpPr>
          <a:xfrm>
            <a:off x="218618" y="1422400"/>
            <a:ext cx="8952075" cy="3929154"/>
            <a:chOff x="218618" y="1422400"/>
            <a:chExt cx="8952075" cy="39291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C1169D-1DD5-F445-8B9B-7C45DCC7AEAC}"/>
                </a:ext>
              </a:extLst>
            </p:cNvPr>
            <p:cNvSpPr/>
            <p:nvPr/>
          </p:nvSpPr>
          <p:spPr>
            <a:xfrm>
              <a:off x="6501141" y="2038023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7190926-DC69-7E44-93BC-14C6646808D7}"/>
                </a:ext>
              </a:extLst>
            </p:cNvPr>
            <p:cNvCxnSpPr/>
            <p:nvPr/>
          </p:nvCxnSpPr>
          <p:spPr>
            <a:xfrm>
              <a:off x="1090941" y="1671323"/>
              <a:ext cx="5507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AAD756-9474-F249-AE51-127DA60AC536}"/>
                </a:ext>
              </a:extLst>
            </p:cNvPr>
            <p:cNvSpPr/>
            <p:nvPr/>
          </p:nvSpPr>
          <p:spPr>
            <a:xfrm>
              <a:off x="1092230" y="1721555"/>
              <a:ext cx="5506093" cy="12943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376C54D-1450-704E-A4B5-9AF4A8A2E196}"/>
                </a:ext>
              </a:extLst>
            </p:cNvPr>
            <p:cNvCxnSpPr/>
            <p:nvPr/>
          </p:nvCxnSpPr>
          <p:spPr>
            <a:xfrm>
              <a:off x="1093399" y="3068102"/>
              <a:ext cx="5507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539BA7-084A-4845-9989-06236CFD6E16}"/>
                </a:ext>
              </a:extLst>
            </p:cNvPr>
            <p:cNvSpPr/>
            <p:nvPr/>
          </p:nvSpPr>
          <p:spPr>
            <a:xfrm>
              <a:off x="218618" y="2104910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8D3E043-2D22-0344-A5D5-E490055399BE}"/>
                </a:ext>
              </a:extLst>
            </p:cNvPr>
            <p:cNvSpPr/>
            <p:nvPr/>
          </p:nvSpPr>
          <p:spPr>
            <a:xfrm>
              <a:off x="6816466" y="3934670"/>
              <a:ext cx="305147" cy="12115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Arrow 23">
              <a:extLst>
                <a:ext uri="{FF2B5EF4-FFF2-40B4-BE49-F238E27FC236}">
                  <a16:creationId xmlns:a16="http://schemas.microsoft.com/office/drawing/2014/main" id="{D55A67ED-81B0-8446-88C9-250A60DBD01C}"/>
                </a:ext>
              </a:extLst>
            </p:cNvPr>
            <p:cNvSpPr/>
            <p:nvPr/>
          </p:nvSpPr>
          <p:spPr>
            <a:xfrm>
              <a:off x="6690065" y="2333204"/>
              <a:ext cx="863096" cy="184666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438B3E-7780-8A49-A06C-3A420B1BB466}"/>
                </a:ext>
              </a:extLst>
            </p:cNvPr>
            <p:cNvSpPr txBox="1"/>
            <p:nvPr/>
          </p:nvSpPr>
          <p:spPr>
            <a:xfrm>
              <a:off x="7585745" y="2201448"/>
              <a:ext cx="1380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  <a:r>
                <a:rPr lang="en-US" baseline="-25000" dirty="0"/>
                <a:t>E</a:t>
              </a:r>
              <a:r>
                <a:rPr lang="en-US" dirty="0"/>
                <a:t> = P</a:t>
              </a:r>
              <a:r>
                <a:rPr lang="en-US" baseline="-25000" dirty="0"/>
                <a:t>out</a:t>
              </a:r>
              <a:r>
                <a:rPr lang="en-US" dirty="0"/>
                <a:t>*A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83FD60-0F92-7F4D-9586-0F81A30F034D}"/>
                </a:ext>
              </a:extLst>
            </p:cNvPr>
            <p:cNvSpPr txBox="1"/>
            <p:nvPr/>
          </p:nvSpPr>
          <p:spPr>
            <a:xfrm>
              <a:off x="6816466" y="3114114"/>
              <a:ext cx="1267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dx = </a:t>
              </a:r>
              <a:r>
                <a:rPr lang="en-US" dirty="0" err="1"/>
                <a:t>dV</a:t>
              </a:r>
              <a:r>
                <a:rPr lang="en-US" dirty="0"/>
                <a:t>/A 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80FF74D-EEA8-F649-921F-E1013A421F6B}"/>
                </a:ext>
              </a:extLst>
            </p:cNvPr>
            <p:cNvSpPr/>
            <p:nvPr/>
          </p:nvSpPr>
          <p:spPr>
            <a:xfrm>
              <a:off x="7175055" y="4303708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A517FAE-217E-A345-BB0A-EC2E799B5D65}"/>
                </a:ext>
              </a:extLst>
            </p:cNvPr>
            <p:cNvCxnSpPr/>
            <p:nvPr/>
          </p:nvCxnSpPr>
          <p:spPr>
            <a:xfrm>
              <a:off x="1089652" y="3879685"/>
              <a:ext cx="5507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8CB5D68-F719-5744-BE3F-33402D4D609B}"/>
                </a:ext>
              </a:extLst>
            </p:cNvPr>
            <p:cNvSpPr/>
            <p:nvPr/>
          </p:nvSpPr>
          <p:spPr>
            <a:xfrm>
              <a:off x="1090941" y="3929917"/>
              <a:ext cx="5506093" cy="12943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D18D5D2-E14D-2745-B7F5-403AB55AAE4D}"/>
                </a:ext>
              </a:extLst>
            </p:cNvPr>
            <p:cNvCxnSpPr/>
            <p:nvPr/>
          </p:nvCxnSpPr>
          <p:spPr>
            <a:xfrm>
              <a:off x="1092110" y="5276464"/>
              <a:ext cx="5507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0EA38C9-A291-8140-A153-4E3946DA58F2}"/>
                </a:ext>
              </a:extLst>
            </p:cNvPr>
            <p:cNvSpPr/>
            <p:nvPr/>
          </p:nvSpPr>
          <p:spPr>
            <a:xfrm>
              <a:off x="666833" y="4392407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CFF0E5-50DB-AD4A-AB2D-611DC60B87B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034" y="1422400"/>
              <a:ext cx="0" cy="205149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4FEB07A-E975-544E-A157-C237F43788BF}"/>
                </a:ext>
              </a:extLst>
            </p:cNvPr>
            <p:cNvCxnSpPr/>
            <p:nvPr/>
          </p:nvCxnSpPr>
          <p:spPr>
            <a:xfrm>
              <a:off x="6816466" y="3729312"/>
              <a:ext cx="0" cy="162224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630C1E-5F68-CF43-9424-B6DB80F2FC16}"/>
                </a:ext>
              </a:extLst>
            </p:cNvPr>
            <p:cNvSpPr txBox="1"/>
            <p:nvPr/>
          </p:nvSpPr>
          <p:spPr>
            <a:xfrm>
              <a:off x="7883254" y="4078768"/>
              <a:ext cx="12874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fluid element leaves pipe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2D9C33-19E2-B416-B597-9BBCE9D6EF2B}"/>
                </a:ext>
              </a:extLst>
            </p:cNvPr>
            <p:cNvSpPr/>
            <p:nvPr/>
          </p:nvSpPr>
          <p:spPr>
            <a:xfrm>
              <a:off x="6243940" y="1785360"/>
              <a:ext cx="305147" cy="12115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A257111-2624-4093-1BB0-AC4045BD8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03" y="5717586"/>
            <a:ext cx="7772400" cy="785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371BF5-15FA-9F84-1F47-A661C63C0D97}"/>
              </a:ext>
            </a:extLst>
          </p:cNvPr>
          <p:cNvSpPr txBox="1"/>
          <p:nvPr/>
        </p:nvSpPr>
        <p:spPr>
          <a:xfrm>
            <a:off x="9348441" y="1095099"/>
            <a:ext cx="24015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exit the pipe, the fluid element has to push the downstream fluid out of the way</a:t>
            </a:r>
          </a:p>
          <a:p>
            <a:endParaRPr lang="en-US" dirty="0"/>
          </a:p>
          <a:p>
            <a:r>
              <a:rPr lang="en-US" dirty="0"/>
              <a:t>F</a:t>
            </a:r>
            <a:r>
              <a:rPr lang="en-US" baseline="-25000" dirty="0"/>
              <a:t>E</a:t>
            </a:r>
            <a:r>
              <a:rPr lang="en-US" dirty="0"/>
              <a:t> is -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62EF8-6180-F4F8-A6AE-1894B07E10C3}"/>
              </a:ext>
            </a:extLst>
          </p:cNvPr>
          <p:cNvSpPr txBox="1"/>
          <p:nvPr/>
        </p:nvSpPr>
        <p:spPr>
          <a:xfrm>
            <a:off x="9113578" y="5459636"/>
            <a:ext cx="2615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</a:t>
            </a:r>
            <a:r>
              <a:rPr lang="en-US" baseline="-25000" dirty="0"/>
              <a:t>out</a:t>
            </a:r>
            <a:r>
              <a:rPr lang="en-US" dirty="0"/>
              <a:t> &lt;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Fluid element does work to leave the pipe (loses energy)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A06F7-346E-A9EA-AC2C-15A82040BA4A}"/>
              </a:ext>
            </a:extLst>
          </p:cNvPr>
          <p:cNvSpPr/>
          <p:nvPr/>
        </p:nvSpPr>
        <p:spPr>
          <a:xfrm>
            <a:off x="9243842" y="1027906"/>
            <a:ext cx="2704552" cy="1888713"/>
          </a:xfrm>
          <a:prstGeom prst="rect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7A7E8-444E-C731-6CD6-0742794AB1B7}"/>
              </a:ext>
            </a:extLst>
          </p:cNvPr>
          <p:cNvSpPr/>
          <p:nvPr/>
        </p:nvSpPr>
        <p:spPr>
          <a:xfrm>
            <a:off x="9024424" y="5424083"/>
            <a:ext cx="2704558" cy="1285052"/>
          </a:xfrm>
          <a:prstGeom prst="rect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7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7BE3-F911-CA4A-8B4D-F9247F3D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3036"/>
          </a:xfrm>
        </p:spPr>
        <p:txBody>
          <a:bodyPr/>
          <a:lstStyle/>
          <a:p>
            <a:r>
              <a:rPr lang="en-US" dirty="0"/>
              <a:t>Flow work - 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63C14-B72F-6A49-913F-6EBF876D7FFF}"/>
              </a:ext>
            </a:extLst>
          </p:cNvPr>
          <p:cNvSpPr txBox="1"/>
          <p:nvPr/>
        </p:nvSpPr>
        <p:spPr>
          <a:xfrm>
            <a:off x="2068689" y="3391323"/>
            <a:ext cx="7332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Calculate the rate of flow work (energy/time =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25E73-1A5B-F747-B87D-01B3267450F7}"/>
              </a:ext>
            </a:extLst>
          </p:cNvPr>
          <p:cNvCxnSpPr/>
          <p:nvPr/>
        </p:nvCxnSpPr>
        <p:spPr>
          <a:xfrm rot="5400000" flipH="1" flipV="1">
            <a:off x="2546252" y="1396936"/>
            <a:ext cx="417763" cy="1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EE4564-F955-8345-933F-EF2EF58DE7AE}"/>
              </a:ext>
            </a:extLst>
          </p:cNvPr>
          <p:cNvCxnSpPr/>
          <p:nvPr/>
        </p:nvCxnSpPr>
        <p:spPr>
          <a:xfrm rot="5400000" flipH="1" flipV="1">
            <a:off x="8052345" y="1396392"/>
            <a:ext cx="417763" cy="1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B0B45D-7DD4-0044-87C3-E63B8AB058ED}"/>
              </a:ext>
            </a:extLst>
          </p:cNvPr>
          <p:cNvCxnSpPr/>
          <p:nvPr/>
        </p:nvCxnSpPr>
        <p:spPr>
          <a:xfrm flipH="1">
            <a:off x="2755134" y="1397036"/>
            <a:ext cx="433013" cy="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082667-96A2-6E4A-9F5B-5F70D92C0223}"/>
              </a:ext>
            </a:extLst>
          </p:cNvPr>
          <p:cNvCxnSpPr/>
          <p:nvPr/>
        </p:nvCxnSpPr>
        <p:spPr>
          <a:xfrm>
            <a:off x="7827569" y="1397036"/>
            <a:ext cx="433013" cy="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462E17-D586-5444-B1DE-EF3C6941985D}"/>
              </a:ext>
            </a:extLst>
          </p:cNvPr>
          <p:cNvSpPr txBox="1"/>
          <p:nvPr/>
        </p:nvSpPr>
        <p:spPr>
          <a:xfrm>
            <a:off x="5105774" y="1292596"/>
            <a:ext cx="136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 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F22D8C-8508-504E-88D9-555E38F7444E}"/>
              </a:ext>
            </a:extLst>
          </p:cNvPr>
          <p:cNvCxnSpPr/>
          <p:nvPr/>
        </p:nvCxnSpPr>
        <p:spPr>
          <a:xfrm>
            <a:off x="3188146" y="1397036"/>
            <a:ext cx="1793910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5B25AD-C0E9-A647-B0A5-0AA02A2C9435}"/>
              </a:ext>
            </a:extLst>
          </p:cNvPr>
          <p:cNvCxnSpPr/>
          <p:nvPr/>
        </p:nvCxnSpPr>
        <p:spPr>
          <a:xfrm rot="10800000">
            <a:off x="5538787" y="1397036"/>
            <a:ext cx="2288782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4DC875-3078-B441-9550-7ABBADD8918D}"/>
              </a:ext>
            </a:extLst>
          </p:cNvPr>
          <p:cNvCxnSpPr/>
          <p:nvPr/>
        </p:nvCxnSpPr>
        <p:spPr>
          <a:xfrm>
            <a:off x="8384299" y="1710358"/>
            <a:ext cx="556731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2152AD-9CA3-D04D-A5FA-81167408FC28}"/>
              </a:ext>
            </a:extLst>
          </p:cNvPr>
          <p:cNvCxnSpPr/>
          <p:nvPr/>
        </p:nvCxnSpPr>
        <p:spPr>
          <a:xfrm>
            <a:off x="8384299" y="3015867"/>
            <a:ext cx="556731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BFB447-1EC4-8546-AB78-9449E0642370}"/>
              </a:ext>
            </a:extLst>
          </p:cNvPr>
          <p:cNvSpPr txBox="1"/>
          <p:nvPr/>
        </p:nvSpPr>
        <p:spPr>
          <a:xfrm>
            <a:off x="8393289" y="2102555"/>
            <a:ext cx="74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 cm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CB282D-52FB-8849-B385-B89F24491BF4}"/>
              </a:ext>
            </a:extLst>
          </p:cNvPr>
          <p:cNvCxnSpPr/>
          <p:nvPr/>
        </p:nvCxnSpPr>
        <p:spPr>
          <a:xfrm rot="5400000">
            <a:off x="8458603" y="2780775"/>
            <a:ext cx="469983" cy="1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F31908-A9B7-4841-AFD1-F588E8AA0081}"/>
              </a:ext>
            </a:extLst>
          </p:cNvPr>
          <p:cNvCxnSpPr/>
          <p:nvPr/>
        </p:nvCxnSpPr>
        <p:spPr>
          <a:xfrm rot="5400000" flipH="1" flipV="1">
            <a:off x="8458603" y="1945249"/>
            <a:ext cx="469983" cy="1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A5F64F2-FE9F-A044-BD14-27B8FE222B0E}"/>
              </a:ext>
            </a:extLst>
          </p:cNvPr>
          <p:cNvSpPr txBox="1"/>
          <p:nvPr/>
        </p:nvSpPr>
        <p:spPr>
          <a:xfrm>
            <a:off x="1230489" y="1721555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100kg/min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kPa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53527-F6BB-AE44-958C-AA2D769B07EF}"/>
              </a:ext>
            </a:extLst>
          </p:cNvPr>
          <p:cNvSpPr txBox="1"/>
          <p:nvPr/>
        </p:nvSpPr>
        <p:spPr>
          <a:xfrm>
            <a:off x="8926688" y="1721555"/>
            <a:ext cx="1714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100kg/min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290 kPa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150D43-2729-5542-B911-2C02A074B90C}"/>
              </a:ext>
            </a:extLst>
          </p:cNvPr>
          <p:cNvSpPr/>
          <p:nvPr/>
        </p:nvSpPr>
        <p:spPr>
          <a:xfrm>
            <a:off x="8164689" y="2038023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761D77-41CF-014E-81D5-44367779A96C}"/>
              </a:ext>
            </a:extLst>
          </p:cNvPr>
          <p:cNvCxnSpPr/>
          <p:nvPr/>
        </p:nvCxnSpPr>
        <p:spPr>
          <a:xfrm>
            <a:off x="2754489" y="1671323"/>
            <a:ext cx="550738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A6734AD-C2A9-FE4C-97C4-DF977EDD9232}"/>
              </a:ext>
            </a:extLst>
          </p:cNvPr>
          <p:cNvSpPr/>
          <p:nvPr/>
        </p:nvSpPr>
        <p:spPr>
          <a:xfrm>
            <a:off x="2755778" y="1721555"/>
            <a:ext cx="5506093" cy="12943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37F3B4-73D3-7B4F-A87F-0841A27D1599}"/>
              </a:ext>
            </a:extLst>
          </p:cNvPr>
          <p:cNvCxnSpPr/>
          <p:nvPr/>
        </p:nvCxnSpPr>
        <p:spPr>
          <a:xfrm>
            <a:off x="2756947" y="3068102"/>
            <a:ext cx="550738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612DAA4-767D-AF48-9C52-1733BA7D5FF5}"/>
              </a:ext>
            </a:extLst>
          </p:cNvPr>
          <p:cNvSpPr/>
          <p:nvPr/>
        </p:nvSpPr>
        <p:spPr>
          <a:xfrm>
            <a:off x="2496199" y="2026355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6279F-0269-B1C2-7A20-E4231A1C7CC3}"/>
              </a:ext>
            </a:extLst>
          </p:cNvPr>
          <p:cNvSpPr txBox="1"/>
          <p:nvPr/>
        </p:nvSpPr>
        <p:spPr>
          <a:xfrm>
            <a:off x="1016000" y="3918818"/>
            <a:ext cx="5328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W</a:t>
            </a:r>
            <a:r>
              <a:rPr lang="en-US" sz="2400" baseline="-25000" dirty="0" err="1"/>
              <a:t>net</a:t>
            </a:r>
            <a:r>
              <a:rPr lang="en-US" sz="2400" dirty="0"/>
              <a:t> = W</a:t>
            </a:r>
            <a:r>
              <a:rPr lang="en-US" sz="2400" baseline="-25000" dirty="0"/>
              <a:t>in</a:t>
            </a:r>
            <a:r>
              <a:rPr lang="en-US" sz="2400" dirty="0"/>
              <a:t> + </a:t>
            </a:r>
            <a:r>
              <a:rPr lang="en-US" sz="2400" dirty="0" err="1"/>
              <a:t>W</a:t>
            </a:r>
            <a:r>
              <a:rPr lang="en-US" sz="2400" baseline="-25000" dirty="0" err="1"/>
              <a:t>out</a:t>
            </a:r>
            <a:r>
              <a:rPr lang="en-US" sz="2400" dirty="0"/>
              <a:t> = (PV)</a:t>
            </a:r>
            <a:r>
              <a:rPr lang="en-US" sz="2400" baseline="-25000" dirty="0"/>
              <a:t>in</a:t>
            </a:r>
            <a:r>
              <a:rPr lang="en-US" sz="2400" dirty="0"/>
              <a:t> – (PV)</a:t>
            </a:r>
            <a:r>
              <a:rPr lang="en-US" sz="2400" baseline="-25000" dirty="0"/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48027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7BE3-F911-CA4A-8B4D-F9247F3D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236"/>
          </a:xfrm>
        </p:spPr>
        <p:txBody>
          <a:bodyPr/>
          <a:lstStyle/>
          <a:p>
            <a:r>
              <a:rPr lang="en-US" dirty="0"/>
              <a:t>Flow work - 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63C14-B72F-6A49-913F-6EBF876D7FFF}"/>
              </a:ext>
            </a:extLst>
          </p:cNvPr>
          <p:cNvSpPr txBox="1"/>
          <p:nvPr/>
        </p:nvSpPr>
        <p:spPr>
          <a:xfrm>
            <a:off x="2068689" y="3391323"/>
            <a:ext cx="7214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Calculate the rate of flow work (energy/time = power)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25E73-1A5B-F747-B87D-01B3267450F7}"/>
              </a:ext>
            </a:extLst>
          </p:cNvPr>
          <p:cNvCxnSpPr/>
          <p:nvPr/>
        </p:nvCxnSpPr>
        <p:spPr>
          <a:xfrm rot="5400000" flipH="1" flipV="1">
            <a:off x="2546252" y="1396936"/>
            <a:ext cx="417763" cy="1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EE4564-F955-8345-933F-EF2EF58DE7AE}"/>
              </a:ext>
            </a:extLst>
          </p:cNvPr>
          <p:cNvCxnSpPr/>
          <p:nvPr/>
        </p:nvCxnSpPr>
        <p:spPr>
          <a:xfrm rot="5400000" flipH="1" flipV="1">
            <a:off x="8052345" y="1396392"/>
            <a:ext cx="417763" cy="1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B0B45D-7DD4-0044-87C3-E63B8AB058ED}"/>
              </a:ext>
            </a:extLst>
          </p:cNvPr>
          <p:cNvCxnSpPr/>
          <p:nvPr/>
        </p:nvCxnSpPr>
        <p:spPr>
          <a:xfrm flipH="1">
            <a:off x="2755134" y="1397036"/>
            <a:ext cx="433013" cy="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082667-96A2-6E4A-9F5B-5F70D92C0223}"/>
              </a:ext>
            </a:extLst>
          </p:cNvPr>
          <p:cNvCxnSpPr/>
          <p:nvPr/>
        </p:nvCxnSpPr>
        <p:spPr>
          <a:xfrm>
            <a:off x="7827569" y="1397036"/>
            <a:ext cx="433013" cy="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462E17-D586-5444-B1DE-EF3C6941985D}"/>
              </a:ext>
            </a:extLst>
          </p:cNvPr>
          <p:cNvSpPr txBox="1"/>
          <p:nvPr/>
        </p:nvSpPr>
        <p:spPr>
          <a:xfrm>
            <a:off x="5105774" y="1292596"/>
            <a:ext cx="136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 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F22D8C-8508-504E-88D9-555E38F7444E}"/>
              </a:ext>
            </a:extLst>
          </p:cNvPr>
          <p:cNvCxnSpPr/>
          <p:nvPr/>
        </p:nvCxnSpPr>
        <p:spPr>
          <a:xfrm>
            <a:off x="3188146" y="1397036"/>
            <a:ext cx="1793910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5B25AD-C0E9-A647-B0A5-0AA02A2C9435}"/>
              </a:ext>
            </a:extLst>
          </p:cNvPr>
          <p:cNvCxnSpPr/>
          <p:nvPr/>
        </p:nvCxnSpPr>
        <p:spPr>
          <a:xfrm rot="10800000">
            <a:off x="5538787" y="1397036"/>
            <a:ext cx="2288782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4DC875-3078-B441-9550-7ABBADD8918D}"/>
              </a:ext>
            </a:extLst>
          </p:cNvPr>
          <p:cNvCxnSpPr/>
          <p:nvPr/>
        </p:nvCxnSpPr>
        <p:spPr>
          <a:xfrm>
            <a:off x="8384299" y="1710358"/>
            <a:ext cx="556731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2152AD-9CA3-D04D-A5FA-81167408FC28}"/>
              </a:ext>
            </a:extLst>
          </p:cNvPr>
          <p:cNvCxnSpPr/>
          <p:nvPr/>
        </p:nvCxnSpPr>
        <p:spPr>
          <a:xfrm>
            <a:off x="8384299" y="3015867"/>
            <a:ext cx="556731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BFB447-1EC4-8546-AB78-9449E0642370}"/>
              </a:ext>
            </a:extLst>
          </p:cNvPr>
          <p:cNvSpPr txBox="1"/>
          <p:nvPr/>
        </p:nvSpPr>
        <p:spPr>
          <a:xfrm>
            <a:off x="8393289" y="2102555"/>
            <a:ext cx="74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 cm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CB282D-52FB-8849-B385-B89F24491BF4}"/>
              </a:ext>
            </a:extLst>
          </p:cNvPr>
          <p:cNvCxnSpPr/>
          <p:nvPr/>
        </p:nvCxnSpPr>
        <p:spPr>
          <a:xfrm rot="5400000">
            <a:off x="8458603" y="2780775"/>
            <a:ext cx="469983" cy="1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F31908-A9B7-4841-AFD1-F588E8AA0081}"/>
              </a:ext>
            </a:extLst>
          </p:cNvPr>
          <p:cNvCxnSpPr/>
          <p:nvPr/>
        </p:nvCxnSpPr>
        <p:spPr>
          <a:xfrm rot="5400000" flipH="1" flipV="1">
            <a:off x="8458603" y="1945249"/>
            <a:ext cx="469983" cy="1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A5F64F2-FE9F-A044-BD14-27B8FE222B0E}"/>
              </a:ext>
            </a:extLst>
          </p:cNvPr>
          <p:cNvSpPr txBox="1"/>
          <p:nvPr/>
        </p:nvSpPr>
        <p:spPr>
          <a:xfrm>
            <a:off x="1230489" y="1721555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100kg/min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kPa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53527-F6BB-AE44-958C-AA2D769B07EF}"/>
              </a:ext>
            </a:extLst>
          </p:cNvPr>
          <p:cNvSpPr txBox="1"/>
          <p:nvPr/>
        </p:nvSpPr>
        <p:spPr>
          <a:xfrm>
            <a:off x="8926688" y="1721555"/>
            <a:ext cx="1714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100kg/min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290 kPa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150D43-2729-5542-B911-2C02A074B90C}"/>
              </a:ext>
            </a:extLst>
          </p:cNvPr>
          <p:cNvSpPr/>
          <p:nvPr/>
        </p:nvSpPr>
        <p:spPr>
          <a:xfrm>
            <a:off x="8164689" y="2038023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761D77-41CF-014E-81D5-44367779A96C}"/>
              </a:ext>
            </a:extLst>
          </p:cNvPr>
          <p:cNvCxnSpPr/>
          <p:nvPr/>
        </p:nvCxnSpPr>
        <p:spPr>
          <a:xfrm>
            <a:off x="2754489" y="1671323"/>
            <a:ext cx="550738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A6734AD-C2A9-FE4C-97C4-DF977EDD9232}"/>
              </a:ext>
            </a:extLst>
          </p:cNvPr>
          <p:cNvSpPr/>
          <p:nvPr/>
        </p:nvSpPr>
        <p:spPr>
          <a:xfrm>
            <a:off x="2755778" y="1721555"/>
            <a:ext cx="5506093" cy="12943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37F3B4-73D3-7B4F-A87F-0841A27D1599}"/>
              </a:ext>
            </a:extLst>
          </p:cNvPr>
          <p:cNvCxnSpPr/>
          <p:nvPr/>
        </p:nvCxnSpPr>
        <p:spPr>
          <a:xfrm>
            <a:off x="2756947" y="3068102"/>
            <a:ext cx="550738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612DAA4-767D-AF48-9C52-1733BA7D5FF5}"/>
              </a:ext>
            </a:extLst>
          </p:cNvPr>
          <p:cNvSpPr/>
          <p:nvPr/>
        </p:nvSpPr>
        <p:spPr>
          <a:xfrm>
            <a:off x="2496199" y="2026355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2CA5E-1B7D-D548-ADE3-158979F9DFE5}"/>
              </a:ext>
            </a:extLst>
          </p:cNvPr>
          <p:cNvSpPr txBox="1"/>
          <p:nvPr/>
        </p:nvSpPr>
        <p:spPr>
          <a:xfrm>
            <a:off x="2068689" y="393611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Volumetric flow rate (m</a:t>
            </a:r>
            <a:r>
              <a:rPr lang="en-US" baseline="30000" dirty="0"/>
              <a:t>3</a:t>
            </a:r>
            <a:r>
              <a:rPr lang="en-US" dirty="0"/>
              <a:t>/s)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2B636-9C59-CE4E-BFAB-0194E7E80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45" y="3879483"/>
            <a:ext cx="1295400" cy="48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56A24-3760-5244-A03C-EBC375CD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40" y="4700513"/>
            <a:ext cx="2679700" cy="482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8081D4-0741-F941-94C8-6F64C5C62575}"/>
                  </a:ext>
                </a:extLst>
              </p:cNvPr>
              <p:cNvSpPr txBox="1"/>
              <p:nvPr/>
            </p:nvSpPr>
            <p:spPr>
              <a:xfrm>
                <a:off x="1603022" y="5064168"/>
                <a:ext cx="7399867" cy="880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/>
                            </a:rPr>
                            <m:t>𝑊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</m:acc>
                      <m:r>
                        <a:rPr lang="en-US" sz="18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300 </m:t>
                          </m:r>
                          <m:r>
                            <a:rPr lang="en-US" sz="1800" i="1">
                              <a:latin typeface="Cambria Math"/>
                            </a:rPr>
                            <m:t>𝑘𝑃𝑎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100 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𝑘𝑔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𝑚𝑖𝑛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1 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1000 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𝑘𝑔</m:t>
                                  </m:r>
                                </m:den>
                              </m:f>
                            </m:e>
                          </m:d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1000 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𝑃𝑎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𝑘𝑃𝑎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𝑁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1800" i="1">
                                  <a:latin typeface="Cambria Math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𝑃𝑎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𝑁𝑚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8081D4-0741-F941-94C8-6F64C5C62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022" y="5064168"/>
                <a:ext cx="7399867" cy="880562"/>
              </a:xfrm>
              <a:prstGeom prst="rect">
                <a:avLst/>
              </a:prstGeom>
              <a:blipFill>
                <a:blip r:embed="rId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A7D4AA-F361-2745-82B0-4E29F89CE63D}"/>
                  </a:ext>
                </a:extLst>
              </p:cNvPr>
              <p:cNvSpPr txBox="1"/>
              <p:nvPr/>
            </p:nvSpPr>
            <p:spPr>
              <a:xfrm>
                <a:off x="2164582" y="6084078"/>
                <a:ext cx="6096000" cy="37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𝑾</m:t>
                        </m:r>
                        <m:r>
                          <a:rPr lang="en-US" b="1" i="1" baseline="-25000" smtClean="0"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30,000 J/min</a:t>
                </a: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A7D4AA-F361-2745-82B0-4E29F89CE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582" y="6084078"/>
                <a:ext cx="6096000" cy="377989"/>
              </a:xfrm>
              <a:prstGeom prst="rect">
                <a:avLst/>
              </a:prstGeom>
              <a:blipFill>
                <a:blip r:embed="rId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38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7BE3-F911-CA4A-8B4D-F9247F3D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1842"/>
          </a:xfrm>
        </p:spPr>
        <p:txBody>
          <a:bodyPr/>
          <a:lstStyle/>
          <a:p>
            <a:r>
              <a:rPr lang="en-US" dirty="0"/>
              <a:t>Flow work - 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C63C14-B72F-6A49-913F-6EBF876D7FFF}"/>
              </a:ext>
            </a:extLst>
          </p:cNvPr>
          <p:cNvSpPr txBox="1"/>
          <p:nvPr/>
        </p:nvSpPr>
        <p:spPr>
          <a:xfrm>
            <a:off x="2068689" y="3391323"/>
            <a:ext cx="7214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Calculate the rate of flow work (energy/time = power)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25E73-1A5B-F747-B87D-01B3267450F7}"/>
              </a:ext>
            </a:extLst>
          </p:cNvPr>
          <p:cNvCxnSpPr/>
          <p:nvPr/>
        </p:nvCxnSpPr>
        <p:spPr>
          <a:xfrm rot="5400000" flipH="1" flipV="1">
            <a:off x="2546252" y="1396936"/>
            <a:ext cx="417763" cy="1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EE4564-F955-8345-933F-EF2EF58DE7AE}"/>
              </a:ext>
            </a:extLst>
          </p:cNvPr>
          <p:cNvCxnSpPr/>
          <p:nvPr/>
        </p:nvCxnSpPr>
        <p:spPr>
          <a:xfrm rot="5400000" flipH="1" flipV="1">
            <a:off x="8052345" y="1396392"/>
            <a:ext cx="417763" cy="1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B0B45D-7DD4-0044-87C3-E63B8AB058ED}"/>
              </a:ext>
            </a:extLst>
          </p:cNvPr>
          <p:cNvCxnSpPr/>
          <p:nvPr/>
        </p:nvCxnSpPr>
        <p:spPr>
          <a:xfrm flipH="1">
            <a:off x="2755134" y="1397036"/>
            <a:ext cx="433013" cy="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082667-96A2-6E4A-9F5B-5F70D92C0223}"/>
              </a:ext>
            </a:extLst>
          </p:cNvPr>
          <p:cNvCxnSpPr/>
          <p:nvPr/>
        </p:nvCxnSpPr>
        <p:spPr>
          <a:xfrm>
            <a:off x="7827569" y="1397036"/>
            <a:ext cx="433013" cy="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462E17-D586-5444-B1DE-EF3C6941985D}"/>
              </a:ext>
            </a:extLst>
          </p:cNvPr>
          <p:cNvSpPr txBox="1"/>
          <p:nvPr/>
        </p:nvSpPr>
        <p:spPr>
          <a:xfrm>
            <a:off x="5105774" y="1292596"/>
            <a:ext cx="136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 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F22D8C-8508-504E-88D9-555E38F7444E}"/>
              </a:ext>
            </a:extLst>
          </p:cNvPr>
          <p:cNvCxnSpPr/>
          <p:nvPr/>
        </p:nvCxnSpPr>
        <p:spPr>
          <a:xfrm>
            <a:off x="3188146" y="1397036"/>
            <a:ext cx="1793910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5B25AD-C0E9-A647-B0A5-0AA02A2C9435}"/>
              </a:ext>
            </a:extLst>
          </p:cNvPr>
          <p:cNvCxnSpPr/>
          <p:nvPr/>
        </p:nvCxnSpPr>
        <p:spPr>
          <a:xfrm rot="10800000">
            <a:off x="5538787" y="1397036"/>
            <a:ext cx="2288782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4DC875-3078-B441-9550-7ABBADD8918D}"/>
              </a:ext>
            </a:extLst>
          </p:cNvPr>
          <p:cNvCxnSpPr/>
          <p:nvPr/>
        </p:nvCxnSpPr>
        <p:spPr>
          <a:xfrm>
            <a:off x="8384299" y="1710358"/>
            <a:ext cx="556731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2152AD-9CA3-D04D-A5FA-81167408FC28}"/>
              </a:ext>
            </a:extLst>
          </p:cNvPr>
          <p:cNvCxnSpPr/>
          <p:nvPr/>
        </p:nvCxnSpPr>
        <p:spPr>
          <a:xfrm>
            <a:off x="8384299" y="3015867"/>
            <a:ext cx="556731" cy="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BFB447-1EC4-8546-AB78-9449E0642370}"/>
              </a:ext>
            </a:extLst>
          </p:cNvPr>
          <p:cNvSpPr txBox="1"/>
          <p:nvPr/>
        </p:nvSpPr>
        <p:spPr>
          <a:xfrm>
            <a:off x="8393289" y="2102555"/>
            <a:ext cx="74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 cm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CB282D-52FB-8849-B385-B89F24491BF4}"/>
              </a:ext>
            </a:extLst>
          </p:cNvPr>
          <p:cNvCxnSpPr/>
          <p:nvPr/>
        </p:nvCxnSpPr>
        <p:spPr>
          <a:xfrm rot="5400000">
            <a:off x="8458603" y="2780775"/>
            <a:ext cx="469983" cy="1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F31908-A9B7-4841-AFD1-F588E8AA0081}"/>
              </a:ext>
            </a:extLst>
          </p:cNvPr>
          <p:cNvCxnSpPr/>
          <p:nvPr/>
        </p:nvCxnSpPr>
        <p:spPr>
          <a:xfrm rot="5400000" flipH="1" flipV="1">
            <a:off x="8458603" y="1945249"/>
            <a:ext cx="469983" cy="1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A5F64F2-FE9F-A044-BD14-27B8FE222B0E}"/>
              </a:ext>
            </a:extLst>
          </p:cNvPr>
          <p:cNvSpPr txBox="1"/>
          <p:nvPr/>
        </p:nvSpPr>
        <p:spPr>
          <a:xfrm>
            <a:off x="1230489" y="1721555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100kg/min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kPa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53527-F6BB-AE44-958C-AA2D769B07EF}"/>
              </a:ext>
            </a:extLst>
          </p:cNvPr>
          <p:cNvSpPr txBox="1"/>
          <p:nvPr/>
        </p:nvSpPr>
        <p:spPr>
          <a:xfrm>
            <a:off x="8926688" y="1721555"/>
            <a:ext cx="1714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100kg/min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300 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 290 kPa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150D43-2729-5542-B911-2C02A074B90C}"/>
              </a:ext>
            </a:extLst>
          </p:cNvPr>
          <p:cNvSpPr/>
          <p:nvPr/>
        </p:nvSpPr>
        <p:spPr>
          <a:xfrm>
            <a:off x="8164689" y="2038023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761D77-41CF-014E-81D5-44367779A96C}"/>
              </a:ext>
            </a:extLst>
          </p:cNvPr>
          <p:cNvCxnSpPr/>
          <p:nvPr/>
        </p:nvCxnSpPr>
        <p:spPr>
          <a:xfrm>
            <a:off x="2754489" y="1671323"/>
            <a:ext cx="550738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A6734AD-C2A9-FE4C-97C4-DF977EDD9232}"/>
              </a:ext>
            </a:extLst>
          </p:cNvPr>
          <p:cNvSpPr/>
          <p:nvPr/>
        </p:nvSpPr>
        <p:spPr>
          <a:xfrm>
            <a:off x="2755778" y="1721555"/>
            <a:ext cx="5506093" cy="12943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37F3B4-73D3-7B4F-A87F-0841A27D1599}"/>
              </a:ext>
            </a:extLst>
          </p:cNvPr>
          <p:cNvCxnSpPr/>
          <p:nvPr/>
        </p:nvCxnSpPr>
        <p:spPr>
          <a:xfrm>
            <a:off x="2756947" y="3068102"/>
            <a:ext cx="550738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612DAA4-767D-AF48-9C52-1733BA7D5FF5}"/>
              </a:ext>
            </a:extLst>
          </p:cNvPr>
          <p:cNvSpPr/>
          <p:nvPr/>
        </p:nvSpPr>
        <p:spPr>
          <a:xfrm>
            <a:off x="2496199" y="2026355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2CA5E-1B7D-D548-ADE3-158979F9DFE5}"/>
              </a:ext>
            </a:extLst>
          </p:cNvPr>
          <p:cNvSpPr txBox="1"/>
          <p:nvPr/>
        </p:nvSpPr>
        <p:spPr>
          <a:xfrm>
            <a:off x="2068689" y="393611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Volumetric flow rate (m</a:t>
            </a:r>
            <a:r>
              <a:rPr lang="en-US" baseline="30000" dirty="0"/>
              <a:t>3</a:t>
            </a:r>
            <a:r>
              <a:rPr lang="en-US" dirty="0"/>
              <a:t>/s)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2B636-9C59-CE4E-BFAB-0194E7E80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45" y="3879483"/>
            <a:ext cx="1295400" cy="48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56A24-3760-5244-A03C-EBC375CD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85" y="4528887"/>
            <a:ext cx="2098839" cy="3779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8081D4-0741-F941-94C8-6F64C5C62575}"/>
                  </a:ext>
                </a:extLst>
              </p:cNvPr>
              <p:cNvSpPr txBox="1"/>
              <p:nvPr/>
            </p:nvSpPr>
            <p:spPr>
              <a:xfrm>
                <a:off x="382685" y="4825650"/>
                <a:ext cx="7399867" cy="880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/>
                            </a:rPr>
                            <m:t>𝑊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</m:acc>
                      <m:r>
                        <a:rPr lang="en-US" sz="1800" i="1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290</m:t>
                          </m:r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𝑘𝑃𝑎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100 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𝑘𝑔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𝑚𝑖𝑛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1 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1000 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𝑘𝑔</m:t>
                                  </m:r>
                                </m:den>
                              </m:f>
                            </m:e>
                          </m:d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1000 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𝑃𝑎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𝑘𝑃𝑎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/>
                                    </a:rPr>
                                    <m:t>𝑁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1800" i="1">
                                  <a:latin typeface="Cambria Math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𝑃𝑎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𝑁𝑚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8081D4-0741-F941-94C8-6F64C5C62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85" y="4825650"/>
                <a:ext cx="7399867" cy="880562"/>
              </a:xfrm>
              <a:prstGeom prst="rect">
                <a:avLst/>
              </a:prstGeom>
              <a:blipFill>
                <a:blip r:embed="rId4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A7D4AA-F361-2745-82B0-4E29F89CE63D}"/>
                  </a:ext>
                </a:extLst>
              </p:cNvPr>
              <p:cNvSpPr txBox="1"/>
              <p:nvPr/>
            </p:nvSpPr>
            <p:spPr>
              <a:xfrm>
                <a:off x="353134" y="5833165"/>
                <a:ext cx="2766743" cy="37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𝑾</m:t>
                        </m:r>
                        <m:r>
                          <a:rPr lang="en-US" b="1" i="1" baseline="-25000" smtClean="0">
                            <a:latin typeface="Cambria Math" panose="02040503050406030204" pitchFamily="18" charset="0"/>
                          </a:rPr>
                          <m:t>𝒐𝒖𝒕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𝟐𝟗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,000 J/min</a:t>
                </a: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A7D4AA-F361-2745-82B0-4E29F89CE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34" y="5833165"/>
                <a:ext cx="2766743" cy="377989"/>
              </a:xfrm>
              <a:prstGeom prst="rect">
                <a:avLst/>
              </a:prstGeom>
              <a:blipFill>
                <a:blip r:embed="rId5"/>
                <a:stretch>
                  <a:fillRect t="-967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7CDB7C2-C2DB-3E48-B7E5-FD34E5696B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119" y="5999967"/>
            <a:ext cx="4724463" cy="4103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65E910-6EDF-3CBF-7B5C-3FBB9C6AAA25}"/>
              </a:ext>
            </a:extLst>
          </p:cNvPr>
          <p:cNvSpPr txBox="1"/>
          <p:nvPr/>
        </p:nvSpPr>
        <p:spPr>
          <a:xfrm>
            <a:off x="9184326" y="4631279"/>
            <a:ext cx="2766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net work is &gt; 0</a:t>
            </a:r>
          </a:p>
          <a:p>
            <a:endParaRPr lang="en-US" dirty="0"/>
          </a:p>
          <a:p>
            <a:r>
              <a:rPr lang="en-US" dirty="0"/>
              <a:t>This means you need to somehow supply work to make the fluid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CAD37-EE85-C6CC-FFEE-91388DA3C1D4}"/>
              </a:ext>
            </a:extLst>
          </p:cNvPr>
          <p:cNvSpPr/>
          <p:nvPr/>
        </p:nvSpPr>
        <p:spPr>
          <a:xfrm>
            <a:off x="9134308" y="4528887"/>
            <a:ext cx="2704558" cy="1860165"/>
          </a:xfrm>
          <a:prstGeom prst="rect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5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403</Words>
  <Application>Microsoft Macintosh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Verdana</vt:lpstr>
      <vt:lpstr>Office Theme</vt:lpstr>
      <vt:lpstr>Flow work</vt:lpstr>
      <vt:lpstr>Flow work – fluid entering a pipe</vt:lpstr>
      <vt:lpstr>Flow work – fluid leaving a pipe</vt:lpstr>
      <vt:lpstr>Flow work - example</vt:lpstr>
      <vt:lpstr>Flow work - example</vt:lpstr>
      <vt:lpstr>Flow work -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Maginn</dc:creator>
  <cp:lastModifiedBy>Ed Maginn</cp:lastModifiedBy>
  <cp:revision>3</cp:revision>
  <dcterms:created xsi:type="dcterms:W3CDTF">2025-12-22T22:29:07Z</dcterms:created>
  <dcterms:modified xsi:type="dcterms:W3CDTF">2025-12-23T13:20:31Z</dcterms:modified>
</cp:coreProperties>
</file>